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Stinger Wide Bold" charset="1" panose="00000800000000000000"/>
      <p:regular r:id="rId20"/>
    </p:embeddedFont>
    <p:embeddedFont>
      <p:font typeface="Codec Pro Bold" charset="1" panose="00000600000000000000"/>
      <p:regular r:id="rId21"/>
    </p:embeddedFont>
    <p:embeddedFont>
      <p:font typeface="Garet Bold" charset="1" panose="00000000000000000000"/>
      <p:regular r:id="rId22"/>
    </p:embeddedFont>
    <p:embeddedFont>
      <p:font typeface="Garet" charset="1" panose="00000000000000000000"/>
      <p:regular r:id="rId23"/>
    </p:embeddedFont>
    <p:embeddedFont>
      <p:font typeface="Stinger Wide" charset="1" panose="0000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pn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pn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4.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5.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6.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7.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8.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9.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0.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14339749" y="2482062"/>
            <a:ext cx="7238619" cy="8229600"/>
          </a:xfrm>
          <a:custGeom>
            <a:avLst/>
            <a:gdLst/>
            <a:ahLst/>
            <a:cxnLst/>
            <a:rect r="r" b="b" t="t" l="l"/>
            <a:pathLst>
              <a:path h="8229600" w="7238619">
                <a:moveTo>
                  <a:pt x="0" y="0"/>
                </a:moveTo>
                <a:lnTo>
                  <a:pt x="7238619" y="0"/>
                </a:lnTo>
                <a:lnTo>
                  <a:pt x="7238619"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1102861" y="4112027"/>
            <a:ext cx="5054215" cy="6330958"/>
          </a:xfrm>
          <a:custGeom>
            <a:avLst/>
            <a:gdLst/>
            <a:ahLst/>
            <a:cxnLst/>
            <a:rect r="r" b="b" t="t" l="l"/>
            <a:pathLst>
              <a:path h="6330958" w="5054215">
                <a:moveTo>
                  <a:pt x="0" y="0"/>
                </a:moveTo>
                <a:lnTo>
                  <a:pt x="5054215" y="0"/>
                </a:lnTo>
                <a:lnTo>
                  <a:pt x="5054215" y="6330958"/>
                </a:lnTo>
                <a:lnTo>
                  <a:pt x="0" y="6330958"/>
                </a:lnTo>
                <a:lnTo>
                  <a:pt x="0" y="0"/>
                </a:lnTo>
                <a:close/>
              </a:path>
            </a:pathLst>
          </a:custGeom>
          <a:blipFill>
            <a:blip r:embed="rId3"/>
            <a:stretch>
              <a:fillRect l="0" t="0" r="0" b="0"/>
            </a:stretch>
          </a:blipFill>
        </p:spPr>
      </p:sp>
      <p:sp>
        <p:nvSpPr>
          <p:cNvPr name="TextBox 4" id="4"/>
          <p:cNvSpPr txBox="true"/>
          <p:nvPr/>
        </p:nvSpPr>
        <p:spPr>
          <a:xfrm rot="0">
            <a:off x="4612601" y="3089829"/>
            <a:ext cx="8748316" cy="3633216"/>
          </a:xfrm>
          <a:prstGeom prst="rect">
            <a:avLst/>
          </a:prstGeom>
        </p:spPr>
        <p:txBody>
          <a:bodyPr anchor="t" rtlCol="false" tIns="0" lIns="0" bIns="0" rIns="0">
            <a:spAutoFit/>
          </a:bodyPr>
          <a:lstStyle/>
          <a:p>
            <a:pPr algn="ctr">
              <a:lnSpc>
                <a:spcPts val="9312"/>
              </a:lnSpc>
            </a:pPr>
            <a:r>
              <a:rPr lang="en-US" sz="9600" b="true">
                <a:solidFill>
                  <a:srgbClr val="143F87"/>
                </a:solidFill>
                <a:latin typeface="Stinger Wide Bold"/>
                <a:ea typeface="Stinger Wide Bold"/>
                <a:cs typeface="Stinger Wide Bold"/>
                <a:sym typeface="Stinger Wide Bold"/>
              </a:rPr>
              <a:t>Phân tích meta LQ AIC 2025</a:t>
            </a:r>
          </a:p>
        </p:txBody>
      </p:sp>
      <p:sp>
        <p:nvSpPr>
          <p:cNvPr name="Freeform 5" id="5"/>
          <p:cNvSpPr/>
          <p:nvPr/>
        </p:nvSpPr>
        <p:spPr>
          <a:xfrm flipH="false" flipV="false" rot="3921125">
            <a:off x="-1351009" y="-1529351"/>
            <a:ext cx="5550511" cy="5550511"/>
          </a:xfrm>
          <a:custGeom>
            <a:avLst/>
            <a:gdLst/>
            <a:ahLst/>
            <a:cxnLst/>
            <a:rect r="r" b="b" t="t" l="l"/>
            <a:pathLst>
              <a:path h="5550511" w="5550511">
                <a:moveTo>
                  <a:pt x="0" y="0"/>
                </a:moveTo>
                <a:lnTo>
                  <a:pt x="5550511" y="0"/>
                </a:lnTo>
                <a:lnTo>
                  <a:pt x="5550511" y="5550511"/>
                </a:lnTo>
                <a:lnTo>
                  <a:pt x="0" y="55505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571653">
            <a:off x="6899607" y="-3050983"/>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986759" y="7861328"/>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3880430" y="-1632738"/>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8986759" y="711552"/>
            <a:ext cx="6893786" cy="897255"/>
          </a:xfrm>
          <a:prstGeom prst="rect">
            <a:avLst/>
          </a:prstGeom>
        </p:spPr>
        <p:txBody>
          <a:bodyPr anchor="t" rtlCol="false" tIns="0" lIns="0" bIns="0" rIns="0">
            <a:spAutoFit/>
          </a:bodyPr>
          <a:lstStyle/>
          <a:p>
            <a:pPr algn="ctr">
              <a:lnSpc>
                <a:spcPts val="6719"/>
              </a:lnSpc>
            </a:pPr>
            <a:r>
              <a:rPr lang="en-US" b="true" sz="4800" spc="52">
                <a:solidFill>
                  <a:srgbClr val="000000"/>
                </a:solidFill>
                <a:latin typeface="Codec Pro Bold"/>
                <a:ea typeface="Codec Pro Bold"/>
                <a:cs typeface="Codec Pro Bold"/>
                <a:sym typeface="Codec Pro Bold"/>
              </a:rPr>
              <a:t>DATA SCIENCE</a:t>
            </a:r>
          </a:p>
        </p:txBody>
      </p:sp>
      <p:sp>
        <p:nvSpPr>
          <p:cNvPr name="TextBox 10" id="10"/>
          <p:cNvSpPr txBox="true"/>
          <p:nvPr/>
        </p:nvSpPr>
        <p:spPr>
          <a:xfrm rot="0">
            <a:off x="2856198" y="8245823"/>
            <a:ext cx="6893786" cy="1261110"/>
          </a:xfrm>
          <a:prstGeom prst="rect">
            <a:avLst/>
          </a:prstGeom>
        </p:spPr>
        <p:txBody>
          <a:bodyPr anchor="t" rtlCol="false" tIns="0" lIns="0" bIns="0" rIns="0">
            <a:spAutoFit/>
          </a:bodyPr>
          <a:lstStyle/>
          <a:p>
            <a:pPr algn="ctr">
              <a:lnSpc>
                <a:spcPts val="5040"/>
              </a:lnSpc>
            </a:pPr>
            <a:r>
              <a:rPr lang="en-US" b="true" sz="3600" spc="39">
                <a:solidFill>
                  <a:srgbClr val="000000"/>
                </a:solidFill>
                <a:latin typeface="Garet Bold"/>
                <a:ea typeface="Garet Bold"/>
                <a:cs typeface="Garet Bold"/>
                <a:sym typeface="Garet Bold"/>
              </a:rPr>
              <a:t>Nguyễn Minh Đức</a:t>
            </a:r>
          </a:p>
          <a:p>
            <a:pPr algn="ctr">
              <a:lnSpc>
                <a:spcPts val="5040"/>
              </a:lnSpc>
            </a:pPr>
            <a:r>
              <a:rPr lang="en-US" b="true" sz="3600" spc="39">
                <a:solidFill>
                  <a:srgbClr val="000000"/>
                </a:solidFill>
                <a:latin typeface="Garet Bold"/>
                <a:ea typeface="Garet Bold"/>
                <a:cs typeface="Garet Bold"/>
                <a:sym typeface="Garet Bold"/>
              </a:rPr>
              <a:t>Ninh Ngọc Hưng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4964717" y="961436"/>
            <a:ext cx="8763524" cy="904849"/>
          </a:xfrm>
          <a:prstGeom prst="rect">
            <a:avLst/>
          </a:prstGeom>
        </p:spPr>
        <p:txBody>
          <a:bodyPr anchor="t" rtlCol="false" tIns="0" lIns="0" bIns="0" rIns="0">
            <a:spAutoFit/>
          </a:bodyPr>
          <a:lstStyle/>
          <a:p>
            <a:pPr algn="ctr">
              <a:lnSpc>
                <a:spcPts val="6641"/>
              </a:lnSpc>
            </a:pPr>
            <a:r>
              <a:rPr lang="en-US" sz="6846" b="true">
                <a:solidFill>
                  <a:srgbClr val="214184"/>
                </a:solidFill>
                <a:latin typeface="Stinger Wide Bold"/>
                <a:ea typeface="Stinger Wide Bold"/>
                <a:cs typeface="Stinger Wide Bold"/>
                <a:sym typeface="Stinger Wide Bold"/>
              </a:rPr>
              <a:t>Lý do chọn đề tài</a:t>
            </a:r>
          </a:p>
        </p:txBody>
      </p:sp>
      <p:sp>
        <p:nvSpPr>
          <p:cNvPr name="Freeform 3" id="3"/>
          <p:cNvSpPr/>
          <p:nvPr/>
        </p:nvSpPr>
        <p:spPr>
          <a:xfrm flipH="true" flipV="false" rot="0">
            <a:off x="3281798" y="7892064"/>
            <a:ext cx="4647276" cy="3099786"/>
          </a:xfrm>
          <a:custGeom>
            <a:avLst/>
            <a:gdLst/>
            <a:ahLst/>
            <a:cxnLst/>
            <a:rect r="r" b="b" t="t" l="l"/>
            <a:pathLst>
              <a:path h="3099786" w="4647276">
                <a:moveTo>
                  <a:pt x="4647276" y="0"/>
                </a:moveTo>
                <a:lnTo>
                  <a:pt x="0" y="0"/>
                </a:lnTo>
                <a:lnTo>
                  <a:pt x="0" y="3099786"/>
                </a:lnTo>
                <a:lnTo>
                  <a:pt x="4647276" y="3099786"/>
                </a:lnTo>
                <a:lnTo>
                  <a:pt x="4647276" y="0"/>
                </a:lnTo>
                <a:close/>
              </a:path>
            </a:pathLst>
          </a:custGeom>
          <a:blipFill>
            <a:blip r:embed="rId2">
              <a:alphaModFix amt="43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507571" y="2594137"/>
            <a:ext cx="11214304" cy="6424930"/>
          </a:xfrm>
          <a:prstGeom prst="rect">
            <a:avLst/>
          </a:prstGeom>
        </p:spPr>
        <p:txBody>
          <a:bodyPr anchor="t" rtlCol="false" tIns="0" lIns="0" bIns="0" rIns="0">
            <a:spAutoFit/>
          </a:bodyPr>
          <a:lstStyle/>
          <a:p>
            <a:pPr algn="l" marL="604519" indent="-302260" lvl="1">
              <a:lnSpc>
                <a:spcPts val="3919"/>
              </a:lnSpc>
              <a:buFont typeface="Arial"/>
              <a:buChar char="•"/>
            </a:pPr>
            <a:r>
              <a:rPr lang="en-US" sz="2799" spc="30">
                <a:solidFill>
                  <a:srgbClr val="000000"/>
                </a:solidFill>
                <a:latin typeface="Garet"/>
                <a:ea typeface="Garet"/>
                <a:cs typeface="Garet"/>
                <a:sym typeface="Garet"/>
              </a:rPr>
              <a:t>AIC</a:t>
            </a:r>
            <a:r>
              <a:rPr lang="en-US" sz="2799" spc="30">
                <a:solidFill>
                  <a:srgbClr val="000000"/>
                </a:solidFill>
                <a:latin typeface="Garet"/>
                <a:ea typeface="Garet"/>
                <a:cs typeface="Garet"/>
                <a:sym typeface="Garet"/>
              </a:rPr>
              <a:t> 2025 là giải đấu quốc tế lớn nhất của Liên Quân Mobile, quy tụ các đội tuyển hàng đầu và phản ánh rõ xu hướng meta của trò chơi.</a:t>
            </a:r>
          </a:p>
          <a:p>
            <a:pPr algn="l" marL="604519" indent="-302260" lvl="1">
              <a:lnSpc>
                <a:spcPts val="3919"/>
              </a:lnSpc>
              <a:buFont typeface="Arial"/>
              <a:buChar char="•"/>
            </a:pPr>
            <a:r>
              <a:rPr lang="en-US" sz="2799" spc="30">
                <a:solidFill>
                  <a:srgbClr val="000000"/>
                </a:solidFill>
                <a:latin typeface="Garet"/>
                <a:ea typeface="Garet"/>
                <a:cs typeface="Garet"/>
                <a:sym typeface="Garet"/>
              </a:rPr>
              <a:t>Dữ liệu ban/pick chứa nhiều thông tin chiến thuật, phù hợp để áp dụng các kỹ thuật của Data Science như thống kê, trực quan hóa dữ liệu và phân tích xu hướng.</a:t>
            </a:r>
          </a:p>
          <a:p>
            <a:pPr algn="l" marL="604519" indent="-302260" lvl="1">
              <a:lnSpc>
                <a:spcPts val="3919"/>
              </a:lnSpc>
              <a:buFont typeface="Arial"/>
              <a:buChar char="•"/>
            </a:pPr>
            <a:r>
              <a:rPr lang="en-US" sz="2799" spc="30">
                <a:solidFill>
                  <a:srgbClr val="000000"/>
                </a:solidFill>
                <a:latin typeface="Garet"/>
                <a:ea typeface="Garet"/>
                <a:cs typeface="Garet"/>
                <a:sym typeface="Garet"/>
              </a:rPr>
              <a:t>Kết quả phân tích giúp xác định các tướng có tỷ lệ xuất hiện cao, mức độ ưu tiên trong từng giai đoạn giải đấu và mối liên hệ giữa lựa chọn tướng với kết quả trận đấu.</a:t>
            </a:r>
          </a:p>
          <a:p>
            <a:pPr algn="l" marL="604519" indent="-302260" lvl="1">
              <a:lnSpc>
                <a:spcPts val="3919"/>
              </a:lnSpc>
              <a:buFont typeface="Arial"/>
              <a:buChar char="•"/>
            </a:pPr>
            <a:r>
              <a:rPr lang="en-US" sz="2799" spc="30">
                <a:solidFill>
                  <a:srgbClr val="000000"/>
                </a:solidFill>
                <a:latin typeface="Garet"/>
                <a:ea typeface="Garet"/>
                <a:cs typeface="Garet"/>
                <a:sym typeface="Garet"/>
              </a:rPr>
              <a:t>Đề tài kết hợp giữa sở thích cá nhân và kiến thức chuyên môn, tạo động lực trong quá trình nghiên cứu và thực hiện dự án.</a:t>
            </a:r>
          </a:p>
          <a:p>
            <a:pPr algn="l">
              <a:lnSpc>
                <a:spcPts val="3919"/>
              </a:lnSpc>
            </a:pPr>
          </a:p>
        </p:txBody>
      </p:sp>
      <p:sp>
        <p:nvSpPr>
          <p:cNvPr name="Freeform 5" id="5"/>
          <p:cNvSpPr/>
          <p:nvPr/>
        </p:nvSpPr>
        <p:spPr>
          <a:xfrm flipH="false" flipV="false" rot="2571653">
            <a:off x="16043607" y="1949665"/>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4">
              <a:alphaModFix amt="21999"/>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721875" y="6598087"/>
            <a:ext cx="3969133" cy="4512515"/>
          </a:xfrm>
          <a:custGeom>
            <a:avLst/>
            <a:gdLst/>
            <a:ahLst/>
            <a:cxnLst/>
            <a:rect r="r" b="b" t="t" l="l"/>
            <a:pathLst>
              <a:path h="4512515" w="3969133">
                <a:moveTo>
                  <a:pt x="0" y="0"/>
                </a:moveTo>
                <a:lnTo>
                  <a:pt x="3969132" y="0"/>
                </a:lnTo>
                <a:lnTo>
                  <a:pt x="3969132" y="4512515"/>
                </a:lnTo>
                <a:lnTo>
                  <a:pt x="0" y="4512515"/>
                </a:lnTo>
                <a:lnTo>
                  <a:pt x="0" y="0"/>
                </a:lnTo>
                <a:close/>
              </a:path>
            </a:pathLst>
          </a:custGeom>
          <a:blipFill>
            <a:blip r:embed="rId6"/>
            <a:stretch>
              <a:fillRect l="0" t="0" r="0" b="0"/>
            </a:stretch>
          </a:blipFill>
        </p:spPr>
      </p:sp>
      <p:sp>
        <p:nvSpPr>
          <p:cNvPr name="Freeform 7" id="7"/>
          <p:cNvSpPr/>
          <p:nvPr/>
        </p:nvSpPr>
        <p:spPr>
          <a:xfrm flipH="false" flipV="false" rot="0">
            <a:off x="-611425" y="6598087"/>
            <a:ext cx="3280251" cy="4108874"/>
          </a:xfrm>
          <a:custGeom>
            <a:avLst/>
            <a:gdLst/>
            <a:ahLst/>
            <a:cxnLst/>
            <a:rect r="r" b="b" t="t" l="l"/>
            <a:pathLst>
              <a:path h="4108874" w="3280251">
                <a:moveTo>
                  <a:pt x="0" y="0"/>
                </a:moveTo>
                <a:lnTo>
                  <a:pt x="3280250" y="0"/>
                </a:lnTo>
                <a:lnTo>
                  <a:pt x="3280250" y="4108874"/>
                </a:lnTo>
                <a:lnTo>
                  <a:pt x="0" y="4108874"/>
                </a:lnTo>
                <a:lnTo>
                  <a:pt x="0" y="0"/>
                </a:lnTo>
                <a:close/>
              </a:path>
            </a:pathLst>
          </a:custGeom>
          <a:blipFill>
            <a:blip r:embed="rId7"/>
            <a:stretch>
              <a:fillRect l="0" t="0" r="0" b="0"/>
            </a:stretch>
          </a:blipFill>
        </p:spPr>
      </p:sp>
      <p:sp>
        <p:nvSpPr>
          <p:cNvPr name="Freeform 8" id="8"/>
          <p:cNvSpPr/>
          <p:nvPr/>
        </p:nvSpPr>
        <p:spPr>
          <a:xfrm flipH="false" flipV="false" rot="3921125">
            <a:off x="12766498" y="-1741514"/>
            <a:ext cx="5550511" cy="5550511"/>
          </a:xfrm>
          <a:custGeom>
            <a:avLst/>
            <a:gdLst/>
            <a:ahLst/>
            <a:cxnLst/>
            <a:rect r="r" b="b" t="t" l="l"/>
            <a:pathLst>
              <a:path h="5550511" w="5550511">
                <a:moveTo>
                  <a:pt x="0" y="0"/>
                </a:moveTo>
                <a:lnTo>
                  <a:pt x="5550511" y="0"/>
                </a:lnTo>
                <a:lnTo>
                  <a:pt x="5550511" y="5550511"/>
                </a:lnTo>
                <a:lnTo>
                  <a:pt x="0" y="555051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0" y="-710214"/>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2571653">
            <a:off x="-3050082" y="2465162"/>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4">
              <a:alphaModFix amt="21999"/>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0166210" y="8062700"/>
            <a:ext cx="4647276" cy="3099786"/>
          </a:xfrm>
          <a:custGeom>
            <a:avLst/>
            <a:gdLst/>
            <a:ahLst/>
            <a:cxnLst/>
            <a:rect r="r" b="b" t="t" l="l"/>
            <a:pathLst>
              <a:path h="3099786" w="4647276">
                <a:moveTo>
                  <a:pt x="0" y="0"/>
                </a:moveTo>
                <a:lnTo>
                  <a:pt x="4647276" y="0"/>
                </a:lnTo>
                <a:lnTo>
                  <a:pt x="4647276" y="3099786"/>
                </a:lnTo>
                <a:lnTo>
                  <a:pt x="0" y="3099786"/>
                </a:lnTo>
                <a:lnTo>
                  <a:pt x="0" y="0"/>
                </a:lnTo>
                <a:close/>
              </a:path>
            </a:pathLst>
          </a:custGeom>
          <a:blipFill>
            <a:blip r:embed="rId2">
              <a:alphaModFix amt="43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5204460" y="1013366"/>
            <a:ext cx="7285388" cy="781939"/>
          </a:xfrm>
          <a:prstGeom prst="rect">
            <a:avLst/>
          </a:prstGeom>
        </p:spPr>
        <p:txBody>
          <a:bodyPr anchor="t" rtlCol="false" tIns="0" lIns="0" bIns="0" rIns="0">
            <a:spAutoFit/>
          </a:bodyPr>
          <a:lstStyle/>
          <a:p>
            <a:pPr algn="ctr">
              <a:lnSpc>
                <a:spcPts val="5722"/>
              </a:lnSpc>
            </a:pPr>
            <a:r>
              <a:rPr lang="en-US" sz="5899" b="true">
                <a:solidFill>
                  <a:srgbClr val="214184"/>
                </a:solidFill>
                <a:latin typeface="Stinger Wide Bold"/>
                <a:ea typeface="Stinger Wide Bold"/>
                <a:cs typeface="Stinger Wide Bold"/>
                <a:sym typeface="Stinger Wide Bold"/>
              </a:rPr>
              <a:t>Khái quát đề tài</a:t>
            </a:r>
          </a:p>
        </p:txBody>
      </p:sp>
      <p:sp>
        <p:nvSpPr>
          <p:cNvPr name="TextBox 3" id="3"/>
          <p:cNvSpPr txBox="true"/>
          <p:nvPr/>
        </p:nvSpPr>
        <p:spPr>
          <a:xfrm rot="0">
            <a:off x="3928765" y="2304798"/>
            <a:ext cx="10430469" cy="3948430"/>
          </a:xfrm>
          <a:prstGeom prst="rect">
            <a:avLst/>
          </a:prstGeom>
        </p:spPr>
        <p:txBody>
          <a:bodyPr anchor="t" rtlCol="false" tIns="0" lIns="0" bIns="0" rIns="0">
            <a:spAutoFit/>
          </a:bodyPr>
          <a:lstStyle/>
          <a:p>
            <a:pPr algn="l">
              <a:lnSpc>
                <a:spcPts val="3919"/>
              </a:lnSpc>
            </a:pPr>
            <a:r>
              <a:rPr lang="en-US" sz="2799" spc="30">
                <a:solidFill>
                  <a:srgbClr val="000000"/>
                </a:solidFill>
                <a:latin typeface="Garet"/>
                <a:ea typeface="Garet"/>
                <a:cs typeface="Garet"/>
                <a:sym typeface="Garet"/>
              </a:rPr>
              <a:t>Đố</a:t>
            </a:r>
            <a:r>
              <a:rPr lang="en-US" sz="2799" spc="30">
                <a:solidFill>
                  <a:srgbClr val="000000"/>
                </a:solidFill>
                <a:latin typeface="Garet"/>
                <a:ea typeface="Garet"/>
                <a:cs typeface="Garet"/>
                <a:sym typeface="Garet"/>
              </a:rPr>
              <a:t>i tượng nghiên cứu: Dữ liệu ban/pick tại AIC 2025.</a:t>
            </a:r>
          </a:p>
          <a:p>
            <a:pPr algn="l">
              <a:lnSpc>
                <a:spcPts val="3919"/>
              </a:lnSpc>
            </a:pPr>
            <a:r>
              <a:rPr lang="en-US" sz="2799" spc="30">
                <a:solidFill>
                  <a:srgbClr val="000000"/>
                </a:solidFill>
                <a:latin typeface="Garet"/>
                <a:ea typeface="Garet"/>
                <a:cs typeface="Garet"/>
                <a:sym typeface="Garet"/>
              </a:rPr>
              <a:t>Nguồn dữ liệu: Các trận đấu chính thức của giải.</a:t>
            </a:r>
          </a:p>
          <a:p>
            <a:pPr algn="l">
              <a:lnSpc>
                <a:spcPts val="3919"/>
              </a:lnSpc>
            </a:pPr>
            <a:r>
              <a:rPr lang="en-US" sz="2799" spc="30">
                <a:solidFill>
                  <a:srgbClr val="000000"/>
                </a:solidFill>
                <a:latin typeface="Garet"/>
                <a:ea typeface="Garet"/>
                <a:cs typeface="Garet"/>
                <a:sym typeface="Garet"/>
              </a:rPr>
              <a:t>Nội dung phân tích:</a:t>
            </a:r>
          </a:p>
          <a:p>
            <a:pPr algn="l" marL="604519" indent="-302260" lvl="1">
              <a:lnSpc>
                <a:spcPts val="3919"/>
              </a:lnSpc>
              <a:buFont typeface="Arial"/>
              <a:buChar char="•"/>
            </a:pPr>
            <a:r>
              <a:rPr lang="en-US" sz="2799" spc="30">
                <a:solidFill>
                  <a:srgbClr val="000000"/>
                </a:solidFill>
                <a:latin typeface="Garet"/>
                <a:ea typeface="Garet"/>
                <a:cs typeface="Garet"/>
                <a:sym typeface="Garet"/>
              </a:rPr>
              <a:t>Tổng quát giải đấu</a:t>
            </a:r>
          </a:p>
          <a:p>
            <a:pPr algn="l" marL="604519" indent="-302260" lvl="1">
              <a:lnSpc>
                <a:spcPts val="3919"/>
              </a:lnSpc>
              <a:buFont typeface="Arial"/>
              <a:buChar char="•"/>
            </a:pPr>
            <a:r>
              <a:rPr lang="en-US" sz="2799" spc="30">
                <a:solidFill>
                  <a:srgbClr val="000000"/>
                </a:solidFill>
                <a:latin typeface="Garet"/>
                <a:ea typeface="Garet"/>
                <a:cs typeface="Garet"/>
                <a:sym typeface="Garet"/>
              </a:rPr>
              <a:t>Tỷ lệ thắng của các đội </a:t>
            </a:r>
          </a:p>
          <a:p>
            <a:pPr algn="l" marL="604519" indent="-302260" lvl="1">
              <a:lnSpc>
                <a:spcPts val="3919"/>
              </a:lnSpc>
              <a:buFont typeface="Arial"/>
              <a:buChar char="•"/>
            </a:pPr>
            <a:r>
              <a:rPr lang="en-US" sz="2799" spc="30">
                <a:solidFill>
                  <a:srgbClr val="000000"/>
                </a:solidFill>
                <a:latin typeface="Garet"/>
                <a:ea typeface="Garet"/>
                <a:cs typeface="Garet"/>
                <a:sym typeface="Garet"/>
              </a:rPr>
              <a:t>Thời gian diễn ra các trận đấu</a:t>
            </a:r>
          </a:p>
          <a:p>
            <a:pPr algn="l" marL="604519" indent="-302260" lvl="1">
              <a:lnSpc>
                <a:spcPts val="3919"/>
              </a:lnSpc>
              <a:buFont typeface="Arial"/>
              <a:buChar char="•"/>
            </a:pPr>
            <a:r>
              <a:rPr lang="en-US" sz="2799" spc="30">
                <a:solidFill>
                  <a:srgbClr val="000000"/>
                </a:solidFill>
                <a:latin typeface="Garet"/>
                <a:ea typeface="Garet"/>
                <a:cs typeface="Garet"/>
                <a:sym typeface="Garet"/>
              </a:rPr>
              <a:t>Thông số ban/pick</a:t>
            </a:r>
          </a:p>
          <a:p>
            <a:pPr algn="l" marL="604519" indent="-302260" lvl="1">
              <a:lnSpc>
                <a:spcPts val="3919"/>
              </a:lnSpc>
              <a:buFont typeface="Arial"/>
              <a:buChar char="•"/>
            </a:pPr>
            <a:r>
              <a:rPr lang="en-US" sz="2799" spc="30">
                <a:solidFill>
                  <a:srgbClr val="000000"/>
                </a:solidFill>
                <a:latin typeface="Garet"/>
                <a:ea typeface="Garet"/>
                <a:cs typeface="Garet"/>
                <a:sym typeface="Garet"/>
              </a:rPr>
              <a:t>Counter cho 4 con tướng được pick nhiều nhất</a:t>
            </a:r>
          </a:p>
        </p:txBody>
      </p:sp>
      <p:sp>
        <p:nvSpPr>
          <p:cNvPr name="Freeform 4" id="4"/>
          <p:cNvSpPr/>
          <p:nvPr/>
        </p:nvSpPr>
        <p:spPr>
          <a:xfrm flipH="false" flipV="false" rot="2571653">
            <a:off x="16043607" y="1949665"/>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721875" y="6598087"/>
            <a:ext cx="3969133" cy="4512515"/>
          </a:xfrm>
          <a:custGeom>
            <a:avLst/>
            <a:gdLst/>
            <a:ahLst/>
            <a:cxnLst/>
            <a:rect r="r" b="b" t="t" l="l"/>
            <a:pathLst>
              <a:path h="4512515" w="3969133">
                <a:moveTo>
                  <a:pt x="0" y="0"/>
                </a:moveTo>
                <a:lnTo>
                  <a:pt x="3969132" y="0"/>
                </a:lnTo>
                <a:lnTo>
                  <a:pt x="3969132" y="4512515"/>
                </a:lnTo>
                <a:lnTo>
                  <a:pt x="0" y="4512515"/>
                </a:lnTo>
                <a:lnTo>
                  <a:pt x="0" y="0"/>
                </a:lnTo>
                <a:close/>
              </a:path>
            </a:pathLst>
          </a:custGeom>
          <a:blipFill>
            <a:blip r:embed="rId4"/>
            <a:stretch>
              <a:fillRect l="0" t="0" r="0" b="0"/>
            </a:stretch>
          </a:blipFill>
        </p:spPr>
      </p:sp>
      <p:sp>
        <p:nvSpPr>
          <p:cNvPr name="Freeform 6" id="6"/>
          <p:cNvSpPr/>
          <p:nvPr/>
        </p:nvSpPr>
        <p:spPr>
          <a:xfrm flipH="false" flipV="false" rot="0">
            <a:off x="-611425" y="6598087"/>
            <a:ext cx="3280251" cy="4108874"/>
          </a:xfrm>
          <a:custGeom>
            <a:avLst/>
            <a:gdLst/>
            <a:ahLst/>
            <a:cxnLst/>
            <a:rect r="r" b="b" t="t" l="l"/>
            <a:pathLst>
              <a:path h="4108874" w="3280251">
                <a:moveTo>
                  <a:pt x="0" y="0"/>
                </a:moveTo>
                <a:lnTo>
                  <a:pt x="3280250" y="0"/>
                </a:lnTo>
                <a:lnTo>
                  <a:pt x="3280250" y="4108874"/>
                </a:lnTo>
                <a:lnTo>
                  <a:pt x="0" y="4108874"/>
                </a:lnTo>
                <a:lnTo>
                  <a:pt x="0" y="0"/>
                </a:lnTo>
                <a:close/>
              </a:path>
            </a:pathLst>
          </a:custGeom>
          <a:blipFill>
            <a:blip r:embed="rId5"/>
            <a:stretch>
              <a:fillRect l="0" t="0" r="0" b="0"/>
            </a:stretch>
          </a:blipFill>
        </p:spPr>
      </p:sp>
      <p:sp>
        <p:nvSpPr>
          <p:cNvPr name="Freeform 7" id="7"/>
          <p:cNvSpPr/>
          <p:nvPr/>
        </p:nvSpPr>
        <p:spPr>
          <a:xfrm flipH="false" flipV="false" rot="3921125">
            <a:off x="12766498" y="-1741514"/>
            <a:ext cx="5550511" cy="5550511"/>
          </a:xfrm>
          <a:custGeom>
            <a:avLst/>
            <a:gdLst/>
            <a:ahLst/>
            <a:cxnLst/>
            <a:rect r="r" b="b" t="t" l="l"/>
            <a:pathLst>
              <a:path h="5550511" w="5550511">
                <a:moveTo>
                  <a:pt x="0" y="0"/>
                </a:moveTo>
                <a:lnTo>
                  <a:pt x="5550511" y="0"/>
                </a:lnTo>
                <a:lnTo>
                  <a:pt x="5550511" y="5550511"/>
                </a:lnTo>
                <a:lnTo>
                  <a:pt x="0" y="55505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0" y="-710214"/>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2571653">
            <a:off x="-3050082" y="2465162"/>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0166210" y="7892064"/>
            <a:ext cx="4647276" cy="3099786"/>
          </a:xfrm>
          <a:custGeom>
            <a:avLst/>
            <a:gdLst/>
            <a:ahLst/>
            <a:cxnLst/>
            <a:rect r="r" b="b" t="t" l="l"/>
            <a:pathLst>
              <a:path h="3099786" w="4647276">
                <a:moveTo>
                  <a:pt x="0" y="0"/>
                </a:moveTo>
                <a:lnTo>
                  <a:pt x="4647276" y="0"/>
                </a:lnTo>
                <a:lnTo>
                  <a:pt x="4647276" y="3099786"/>
                </a:lnTo>
                <a:lnTo>
                  <a:pt x="0" y="3099786"/>
                </a:lnTo>
                <a:lnTo>
                  <a:pt x="0"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true" flipV="false" rot="0">
            <a:off x="3281798" y="7892064"/>
            <a:ext cx="4647276" cy="3099786"/>
          </a:xfrm>
          <a:custGeom>
            <a:avLst/>
            <a:gdLst/>
            <a:ahLst/>
            <a:cxnLst/>
            <a:rect r="r" b="b" t="t" l="l"/>
            <a:pathLst>
              <a:path h="3099786" w="4647276">
                <a:moveTo>
                  <a:pt x="4647276" y="0"/>
                </a:moveTo>
                <a:lnTo>
                  <a:pt x="0" y="0"/>
                </a:lnTo>
                <a:lnTo>
                  <a:pt x="0" y="3099786"/>
                </a:lnTo>
                <a:lnTo>
                  <a:pt x="4647276" y="3099786"/>
                </a:lnTo>
                <a:lnTo>
                  <a:pt x="4647276"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TextBox 12" id="12"/>
          <p:cNvSpPr txBox="true"/>
          <p:nvPr/>
        </p:nvSpPr>
        <p:spPr>
          <a:xfrm rot="0">
            <a:off x="5204460" y="6877187"/>
            <a:ext cx="9774686" cy="2462530"/>
          </a:xfrm>
          <a:prstGeom prst="rect">
            <a:avLst/>
          </a:prstGeom>
        </p:spPr>
        <p:txBody>
          <a:bodyPr anchor="t" rtlCol="false" tIns="0" lIns="0" bIns="0" rIns="0">
            <a:spAutoFit/>
          </a:bodyPr>
          <a:lstStyle/>
          <a:p>
            <a:pPr algn="l" marL="604519" indent="-302260" lvl="1">
              <a:lnSpc>
                <a:spcPts val="3919"/>
              </a:lnSpc>
              <a:buFont typeface="Arial"/>
              <a:buChar char="•"/>
            </a:pPr>
            <a:r>
              <a:rPr lang="en-US" sz="2799" spc="30">
                <a:solidFill>
                  <a:srgbClr val="000000"/>
                </a:solidFill>
                <a:latin typeface="Garet"/>
                <a:ea typeface="Garet"/>
                <a:cs typeface="Garet"/>
                <a:sym typeface="Garet"/>
              </a:rPr>
              <a:t>Công cụ:</a:t>
            </a:r>
            <a:r>
              <a:rPr lang="en-US" sz="2799" spc="30">
                <a:solidFill>
                  <a:srgbClr val="000000"/>
                </a:solidFill>
                <a:latin typeface="Garet"/>
                <a:ea typeface="Garet"/>
                <a:cs typeface="Garet"/>
                <a:sym typeface="Garet"/>
              </a:rPr>
              <a:t> Python, Pandas, Matplotlib, .....</a:t>
            </a:r>
          </a:p>
          <a:p>
            <a:pPr algn="l" marL="604519" indent="-302260" lvl="1">
              <a:lnSpc>
                <a:spcPts val="3919"/>
              </a:lnSpc>
              <a:buFont typeface="Arial"/>
              <a:buChar char="•"/>
            </a:pPr>
            <a:r>
              <a:rPr lang="en-US" sz="2799" spc="30">
                <a:solidFill>
                  <a:srgbClr val="000000"/>
                </a:solidFill>
                <a:latin typeface="Garet"/>
                <a:ea typeface="Garet"/>
                <a:cs typeface="Garet"/>
                <a:sym typeface="Garet"/>
              </a:rPr>
              <a:t>Mục tiêu: Khai thác insight từ dữ liệu và đánh giá meta AIC 2025.</a:t>
            </a:r>
          </a:p>
          <a:p>
            <a:pPr algn="l">
              <a:lnSpc>
                <a:spcPts val="3919"/>
              </a:lnSpc>
            </a:pPr>
          </a:p>
          <a:p>
            <a:pPr algn="l">
              <a:lnSpc>
                <a:spcPts val="391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TextBox 2" id="2"/>
          <p:cNvSpPr txBox="true"/>
          <p:nvPr/>
        </p:nvSpPr>
        <p:spPr>
          <a:xfrm rot="0">
            <a:off x="4482853" y="756228"/>
            <a:ext cx="9611714" cy="1538706"/>
          </a:xfrm>
          <a:prstGeom prst="rect">
            <a:avLst/>
          </a:prstGeom>
        </p:spPr>
        <p:txBody>
          <a:bodyPr anchor="t" rtlCol="false" tIns="0" lIns="0" bIns="0" rIns="0">
            <a:spAutoFit/>
          </a:bodyPr>
          <a:lstStyle/>
          <a:p>
            <a:pPr algn="ctr">
              <a:lnSpc>
                <a:spcPts val="5865"/>
              </a:lnSpc>
            </a:pPr>
            <a:r>
              <a:rPr lang="en-US" sz="6046" b="true">
                <a:solidFill>
                  <a:srgbClr val="214184"/>
                </a:solidFill>
                <a:latin typeface="Stinger Wide Bold"/>
                <a:ea typeface="Stinger Wide Bold"/>
                <a:cs typeface="Stinger Wide Bold"/>
                <a:sym typeface="Stinger Wide Bold"/>
              </a:rPr>
              <a:t>Các thông số cơ bản của một trận đấu</a:t>
            </a:r>
          </a:p>
        </p:txBody>
      </p:sp>
      <p:sp>
        <p:nvSpPr>
          <p:cNvPr name="Freeform 3" id="3"/>
          <p:cNvSpPr/>
          <p:nvPr/>
        </p:nvSpPr>
        <p:spPr>
          <a:xfrm flipH="true" flipV="false" rot="0">
            <a:off x="3281798" y="7892064"/>
            <a:ext cx="4647276" cy="3099786"/>
          </a:xfrm>
          <a:custGeom>
            <a:avLst/>
            <a:gdLst/>
            <a:ahLst/>
            <a:cxnLst/>
            <a:rect r="r" b="b" t="t" l="l"/>
            <a:pathLst>
              <a:path h="3099786" w="4647276">
                <a:moveTo>
                  <a:pt x="4647276" y="0"/>
                </a:moveTo>
                <a:lnTo>
                  <a:pt x="0" y="0"/>
                </a:lnTo>
                <a:lnTo>
                  <a:pt x="0" y="3099786"/>
                </a:lnTo>
                <a:lnTo>
                  <a:pt x="4647276" y="3099786"/>
                </a:lnTo>
                <a:lnTo>
                  <a:pt x="4647276" y="0"/>
                </a:lnTo>
                <a:close/>
              </a:path>
            </a:pathLst>
          </a:custGeom>
          <a:blipFill>
            <a:blip r:embed="rId2">
              <a:alphaModFix amt="4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571653">
            <a:off x="16043607" y="1949665"/>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4">
              <a:alphaModFix amt="21999"/>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737756" y="2704517"/>
            <a:ext cx="6167473" cy="3401060"/>
          </a:xfrm>
          <a:prstGeom prst="rect">
            <a:avLst/>
          </a:prstGeom>
        </p:spPr>
        <p:txBody>
          <a:bodyPr anchor="t" rtlCol="false" tIns="0" lIns="0" bIns="0" rIns="0">
            <a:spAutoFit/>
          </a:bodyPr>
          <a:lstStyle/>
          <a:p>
            <a:pPr algn="l">
              <a:lnSpc>
                <a:spcPts val="4899"/>
              </a:lnSpc>
            </a:pPr>
            <a:r>
              <a:rPr lang="en-US" sz="3499" spc="38" b="true">
                <a:solidFill>
                  <a:srgbClr val="000000"/>
                </a:solidFill>
                <a:latin typeface="Garet Bold"/>
                <a:ea typeface="Garet Bold"/>
                <a:cs typeface="Garet Bold"/>
                <a:sym typeface="Garet Bold"/>
              </a:rPr>
              <a:t>Thông tin chung: </a:t>
            </a:r>
          </a:p>
          <a:p>
            <a:pPr algn="l" marL="690881" indent="-345440" lvl="1">
              <a:lnSpc>
                <a:spcPts val="4480"/>
              </a:lnSpc>
              <a:buFont typeface="Arial"/>
              <a:buChar char="•"/>
            </a:pPr>
            <a:r>
              <a:rPr lang="en-US" sz="3200" spc="35">
                <a:solidFill>
                  <a:srgbClr val="000000"/>
                </a:solidFill>
                <a:latin typeface="Garet"/>
                <a:ea typeface="Garet"/>
                <a:cs typeface="Garet"/>
                <a:sym typeface="Garet"/>
              </a:rPr>
              <a:t>Đội Xanh (Blue Team)</a:t>
            </a:r>
          </a:p>
          <a:p>
            <a:pPr algn="l" marL="690881" indent="-345440" lvl="1">
              <a:lnSpc>
                <a:spcPts val="4480"/>
              </a:lnSpc>
              <a:buFont typeface="Arial"/>
              <a:buChar char="•"/>
            </a:pPr>
            <a:r>
              <a:rPr lang="en-US" sz="3200" spc="35">
                <a:solidFill>
                  <a:srgbClr val="000000"/>
                </a:solidFill>
                <a:latin typeface="Garet"/>
                <a:ea typeface="Garet"/>
                <a:cs typeface="Garet"/>
                <a:sym typeface="Garet"/>
              </a:rPr>
              <a:t>Đội Đỏ (Red Team)</a:t>
            </a:r>
          </a:p>
          <a:p>
            <a:pPr algn="l" marL="690881" indent="-345440" lvl="1">
              <a:lnSpc>
                <a:spcPts val="4480"/>
              </a:lnSpc>
              <a:buFont typeface="Arial"/>
              <a:buChar char="•"/>
            </a:pPr>
            <a:r>
              <a:rPr lang="en-US" sz="3200" spc="35">
                <a:solidFill>
                  <a:srgbClr val="000000"/>
                </a:solidFill>
                <a:latin typeface="Garet"/>
                <a:ea typeface="Garet"/>
                <a:cs typeface="Garet"/>
                <a:sym typeface="Garet"/>
              </a:rPr>
              <a:t>Đội chiến thắng</a:t>
            </a:r>
          </a:p>
          <a:p>
            <a:pPr algn="l" marL="690881" indent="-345440" lvl="1">
              <a:lnSpc>
                <a:spcPts val="4480"/>
              </a:lnSpc>
              <a:buFont typeface="Arial"/>
              <a:buChar char="•"/>
            </a:pPr>
            <a:r>
              <a:rPr lang="en-US" sz="3200" spc="35">
                <a:solidFill>
                  <a:srgbClr val="000000"/>
                </a:solidFill>
                <a:latin typeface="Garet"/>
                <a:ea typeface="Garet"/>
                <a:cs typeface="Garet"/>
                <a:sym typeface="Garet"/>
              </a:rPr>
              <a:t>Thời lượng trận đấu</a:t>
            </a:r>
          </a:p>
          <a:p>
            <a:pPr algn="l">
              <a:lnSpc>
                <a:spcPts val="4480"/>
              </a:lnSpc>
            </a:pPr>
          </a:p>
        </p:txBody>
      </p:sp>
      <p:sp>
        <p:nvSpPr>
          <p:cNvPr name="Freeform 6" id="6"/>
          <p:cNvSpPr/>
          <p:nvPr/>
        </p:nvSpPr>
        <p:spPr>
          <a:xfrm flipH="false" flipV="false" rot="0">
            <a:off x="16173102" y="6849804"/>
            <a:ext cx="3969133" cy="4512515"/>
          </a:xfrm>
          <a:custGeom>
            <a:avLst/>
            <a:gdLst/>
            <a:ahLst/>
            <a:cxnLst/>
            <a:rect r="r" b="b" t="t" l="l"/>
            <a:pathLst>
              <a:path h="4512515" w="3969133">
                <a:moveTo>
                  <a:pt x="0" y="0"/>
                </a:moveTo>
                <a:lnTo>
                  <a:pt x="3969133" y="0"/>
                </a:lnTo>
                <a:lnTo>
                  <a:pt x="3969133" y="4512514"/>
                </a:lnTo>
                <a:lnTo>
                  <a:pt x="0" y="4512514"/>
                </a:lnTo>
                <a:lnTo>
                  <a:pt x="0" y="0"/>
                </a:lnTo>
                <a:close/>
              </a:path>
            </a:pathLst>
          </a:custGeom>
          <a:blipFill>
            <a:blip r:embed="rId6"/>
            <a:stretch>
              <a:fillRect l="0" t="0" r="0" b="0"/>
            </a:stretch>
          </a:blipFill>
        </p:spPr>
      </p:sp>
      <p:sp>
        <p:nvSpPr>
          <p:cNvPr name="Freeform 7" id="7"/>
          <p:cNvSpPr/>
          <p:nvPr/>
        </p:nvSpPr>
        <p:spPr>
          <a:xfrm flipH="false" flipV="false" rot="0">
            <a:off x="-611425" y="6598087"/>
            <a:ext cx="3280251" cy="4108874"/>
          </a:xfrm>
          <a:custGeom>
            <a:avLst/>
            <a:gdLst/>
            <a:ahLst/>
            <a:cxnLst/>
            <a:rect r="r" b="b" t="t" l="l"/>
            <a:pathLst>
              <a:path h="4108874" w="3280251">
                <a:moveTo>
                  <a:pt x="0" y="0"/>
                </a:moveTo>
                <a:lnTo>
                  <a:pt x="3280250" y="0"/>
                </a:lnTo>
                <a:lnTo>
                  <a:pt x="3280250" y="4108874"/>
                </a:lnTo>
                <a:lnTo>
                  <a:pt x="0" y="4108874"/>
                </a:lnTo>
                <a:lnTo>
                  <a:pt x="0" y="0"/>
                </a:lnTo>
                <a:close/>
              </a:path>
            </a:pathLst>
          </a:custGeom>
          <a:blipFill>
            <a:blip r:embed="rId7"/>
            <a:stretch>
              <a:fillRect l="0" t="0" r="0" b="0"/>
            </a:stretch>
          </a:blipFill>
        </p:spPr>
      </p:sp>
      <p:sp>
        <p:nvSpPr>
          <p:cNvPr name="Freeform 8" id="8"/>
          <p:cNvSpPr/>
          <p:nvPr/>
        </p:nvSpPr>
        <p:spPr>
          <a:xfrm flipH="false" flipV="false" rot="3921125">
            <a:off x="12788247" y="-2347651"/>
            <a:ext cx="5550511" cy="5550511"/>
          </a:xfrm>
          <a:custGeom>
            <a:avLst/>
            <a:gdLst/>
            <a:ahLst/>
            <a:cxnLst/>
            <a:rect r="r" b="b" t="t" l="l"/>
            <a:pathLst>
              <a:path h="5550511" w="5550511">
                <a:moveTo>
                  <a:pt x="0" y="0"/>
                </a:moveTo>
                <a:lnTo>
                  <a:pt x="5550511" y="0"/>
                </a:lnTo>
                <a:lnTo>
                  <a:pt x="5550511" y="5550511"/>
                </a:lnTo>
                <a:lnTo>
                  <a:pt x="0" y="555051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272389" y="-916378"/>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2571653">
            <a:off x="-3050082" y="2465162"/>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4">
              <a:alphaModFix amt="21999"/>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0166210" y="8062700"/>
            <a:ext cx="4647276" cy="3099786"/>
          </a:xfrm>
          <a:custGeom>
            <a:avLst/>
            <a:gdLst/>
            <a:ahLst/>
            <a:cxnLst/>
            <a:rect r="r" b="b" t="t" l="l"/>
            <a:pathLst>
              <a:path h="3099786" w="4647276">
                <a:moveTo>
                  <a:pt x="0" y="0"/>
                </a:moveTo>
                <a:lnTo>
                  <a:pt x="4647276" y="0"/>
                </a:lnTo>
                <a:lnTo>
                  <a:pt x="4647276" y="3099786"/>
                </a:lnTo>
                <a:lnTo>
                  <a:pt x="0" y="3099786"/>
                </a:lnTo>
                <a:lnTo>
                  <a:pt x="0" y="0"/>
                </a:lnTo>
                <a:close/>
              </a:path>
            </a:pathLst>
          </a:custGeom>
          <a:blipFill>
            <a:blip r:embed="rId2">
              <a:alphaModFix amt="43000"/>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8308607" y="5702898"/>
            <a:ext cx="7254895" cy="3909695"/>
          </a:xfrm>
          <a:prstGeom prst="rect">
            <a:avLst/>
          </a:prstGeom>
        </p:spPr>
        <p:txBody>
          <a:bodyPr anchor="t" rtlCol="false" tIns="0" lIns="0" bIns="0" rIns="0">
            <a:spAutoFit/>
          </a:bodyPr>
          <a:lstStyle/>
          <a:p>
            <a:pPr algn="l">
              <a:lnSpc>
                <a:spcPts val="4480"/>
              </a:lnSpc>
            </a:pPr>
            <a:r>
              <a:rPr lang="en-US" sz="3200" spc="35" b="true">
                <a:solidFill>
                  <a:srgbClr val="000000"/>
                </a:solidFill>
                <a:latin typeface="Garet Bold"/>
                <a:ea typeface="Garet Bold"/>
                <a:cs typeface="Garet Bold"/>
                <a:sym typeface="Garet Bold"/>
              </a:rPr>
              <a:t>Dữ liệu Ban/Pick: </a:t>
            </a:r>
          </a:p>
          <a:p>
            <a:pPr algn="l" marL="690881" indent="-345440" lvl="1">
              <a:lnSpc>
                <a:spcPts val="4480"/>
              </a:lnSpc>
              <a:buFont typeface="Arial"/>
              <a:buChar char="•"/>
            </a:pPr>
            <a:r>
              <a:rPr lang="en-US" sz="3200" spc="35">
                <a:solidFill>
                  <a:srgbClr val="000000"/>
                </a:solidFill>
                <a:latin typeface="Garet"/>
                <a:ea typeface="Garet"/>
                <a:cs typeface="Garet"/>
                <a:sym typeface="Garet"/>
              </a:rPr>
              <a:t>Danh sách tướng bị cấm của mỗi đội</a:t>
            </a:r>
          </a:p>
          <a:p>
            <a:pPr algn="l" marL="690881" indent="-345440" lvl="1">
              <a:lnSpc>
                <a:spcPts val="4480"/>
              </a:lnSpc>
              <a:buFont typeface="Arial"/>
              <a:buChar char="•"/>
            </a:pPr>
            <a:r>
              <a:rPr lang="en-US" sz="3200" spc="35">
                <a:solidFill>
                  <a:srgbClr val="000000"/>
                </a:solidFill>
                <a:latin typeface="Garet"/>
                <a:ea typeface="Garet"/>
                <a:cs typeface="Garet"/>
                <a:sym typeface="Garet"/>
              </a:rPr>
              <a:t>Danh sách tướng được chọn của mỗi đội</a:t>
            </a:r>
          </a:p>
          <a:p>
            <a:pPr algn="l" marL="690881" indent="-345440" lvl="1">
              <a:lnSpc>
                <a:spcPts val="4480"/>
              </a:lnSpc>
              <a:buFont typeface="Arial"/>
              <a:buChar char="•"/>
            </a:pPr>
            <a:r>
              <a:rPr lang="en-US" sz="3200" spc="35">
                <a:solidFill>
                  <a:srgbClr val="000000"/>
                </a:solidFill>
                <a:latin typeface="Garet"/>
                <a:ea typeface="Garet"/>
                <a:cs typeface="Garet"/>
                <a:sym typeface="Garet"/>
              </a:rPr>
              <a:t>Thứ tự ban/pick</a:t>
            </a:r>
          </a:p>
          <a:p>
            <a:pPr algn="l">
              <a:lnSpc>
                <a:spcPts val="448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2571653">
            <a:off x="16043607" y="1949665"/>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721875" y="6598087"/>
            <a:ext cx="3969133" cy="4512515"/>
          </a:xfrm>
          <a:custGeom>
            <a:avLst/>
            <a:gdLst/>
            <a:ahLst/>
            <a:cxnLst/>
            <a:rect r="r" b="b" t="t" l="l"/>
            <a:pathLst>
              <a:path h="4512515" w="3969133">
                <a:moveTo>
                  <a:pt x="0" y="0"/>
                </a:moveTo>
                <a:lnTo>
                  <a:pt x="3969132" y="0"/>
                </a:lnTo>
                <a:lnTo>
                  <a:pt x="3969132" y="4512515"/>
                </a:lnTo>
                <a:lnTo>
                  <a:pt x="0" y="4512515"/>
                </a:lnTo>
                <a:lnTo>
                  <a:pt x="0" y="0"/>
                </a:lnTo>
                <a:close/>
              </a:path>
            </a:pathLst>
          </a:custGeom>
          <a:blipFill>
            <a:blip r:embed="rId4"/>
            <a:stretch>
              <a:fillRect l="0" t="0" r="0" b="0"/>
            </a:stretch>
          </a:blipFill>
        </p:spPr>
      </p:sp>
      <p:sp>
        <p:nvSpPr>
          <p:cNvPr name="Freeform 4" id="4"/>
          <p:cNvSpPr/>
          <p:nvPr/>
        </p:nvSpPr>
        <p:spPr>
          <a:xfrm flipH="false" flipV="false" rot="0">
            <a:off x="-611425" y="6598087"/>
            <a:ext cx="3280251" cy="4108874"/>
          </a:xfrm>
          <a:custGeom>
            <a:avLst/>
            <a:gdLst/>
            <a:ahLst/>
            <a:cxnLst/>
            <a:rect r="r" b="b" t="t" l="l"/>
            <a:pathLst>
              <a:path h="4108874" w="3280251">
                <a:moveTo>
                  <a:pt x="0" y="0"/>
                </a:moveTo>
                <a:lnTo>
                  <a:pt x="3280250" y="0"/>
                </a:lnTo>
                <a:lnTo>
                  <a:pt x="3280250" y="4108874"/>
                </a:lnTo>
                <a:lnTo>
                  <a:pt x="0" y="4108874"/>
                </a:lnTo>
                <a:lnTo>
                  <a:pt x="0" y="0"/>
                </a:lnTo>
                <a:close/>
              </a:path>
            </a:pathLst>
          </a:custGeom>
          <a:blipFill>
            <a:blip r:embed="rId5"/>
            <a:stretch>
              <a:fillRect l="0" t="0" r="0" b="0"/>
            </a:stretch>
          </a:blipFill>
        </p:spPr>
      </p:sp>
      <p:sp>
        <p:nvSpPr>
          <p:cNvPr name="Freeform 5" id="5"/>
          <p:cNvSpPr/>
          <p:nvPr/>
        </p:nvSpPr>
        <p:spPr>
          <a:xfrm flipH="false" flipV="false" rot="3921125">
            <a:off x="12766498" y="-1741514"/>
            <a:ext cx="5550511" cy="5550511"/>
          </a:xfrm>
          <a:custGeom>
            <a:avLst/>
            <a:gdLst/>
            <a:ahLst/>
            <a:cxnLst/>
            <a:rect r="r" b="b" t="t" l="l"/>
            <a:pathLst>
              <a:path h="5550511" w="5550511">
                <a:moveTo>
                  <a:pt x="0" y="0"/>
                </a:moveTo>
                <a:lnTo>
                  <a:pt x="5550511" y="0"/>
                </a:lnTo>
                <a:lnTo>
                  <a:pt x="5550511" y="5550511"/>
                </a:lnTo>
                <a:lnTo>
                  <a:pt x="0" y="55505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0" y="-710214"/>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2571653">
            <a:off x="-3050082" y="2465162"/>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0166210" y="7892064"/>
            <a:ext cx="4647276" cy="3099786"/>
          </a:xfrm>
          <a:custGeom>
            <a:avLst/>
            <a:gdLst/>
            <a:ahLst/>
            <a:cxnLst/>
            <a:rect r="r" b="b" t="t" l="l"/>
            <a:pathLst>
              <a:path h="3099786" w="4647276">
                <a:moveTo>
                  <a:pt x="0" y="0"/>
                </a:moveTo>
                <a:lnTo>
                  <a:pt x="4647276" y="0"/>
                </a:lnTo>
                <a:lnTo>
                  <a:pt x="4647276" y="3099786"/>
                </a:lnTo>
                <a:lnTo>
                  <a:pt x="0" y="3099786"/>
                </a:lnTo>
                <a:lnTo>
                  <a:pt x="0"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true" flipV="false" rot="0">
            <a:off x="3281798" y="7892064"/>
            <a:ext cx="4647276" cy="3099786"/>
          </a:xfrm>
          <a:custGeom>
            <a:avLst/>
            <a:gdLst/>
            <a:ahLst/>
            <a:cxnLst/>
            <a:rect r="r" b="b" t="t" l="l"/>
            <a:pathLst>
              <a:path h="3099786" w="4647276">
                <a:moveTo>
                  <a:pt x="4647276" y="0"/>
                </a:moveTo>
                <a:lnTo>
                  <a:pt x="0" y="0"/>
                </a:lnTo>
                <a:lnTo>
                  <a:pt x="0" y="3099786"/>
                </a:lnTo>
                <a:lnTo>
                  <a:pt x="4647276" y="3099786"/>
                </a:lnTo>
                <a:lnTo>
                  <a:pt x="4647276"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4198818" y="2421632"/>
            <a:ext cx="9429887" cy="6836668"/>
          </a:xfrm>
          <a:custGeom>
            <a:avLst/>
            <a:gdLst/>
            <a:ahLst/>
            <a:cxnLst/>
            <a:rect r="r" b="b" t="t" l="l"/>
            <a:pathLst>
              <a:path h="6836668" w="9429887">
                <a:moveTo>
                  <a:pt x="0" y="0"/>
                </a:moveTo>
                <a:lnTo>
                  <a:pt x="9429887" y="0"/>
                </a:lnTo>
                <a:lnTo>
                  <a:pt x="9429887" y="6836668"/>
                </a:lnTo>
                <a:lnTo>
                  <a:pt x="0" y="6836668"/>
                </a:lnTo>
                <a:lnTo>
                  <a:pt x="0" y="0"/>
                </a:lnTo>
                <a:close/>
              </a:path>
            </a:pathLst>
          </a:custGeom>
          <a:blipFill>
            <a:blip r:embed="rId12"/>
            <a:stretch>
              <a:fillRect l="0" t="0" r="0" b="0"/>
            </a:stretch>
          </a:blipFill>
        </p:spPr>
      </p:sp>
      <p:sp>
        <p:nvSpPr>
          <p:cNvPr name="TextBox 11" id="11"/>
          <p:cNvSpPr txBox="true"/>
          <p:nvPr/>
        </p:nvSpPr>
        <p:spPr>
          <a:xfrm rot="0">
            <a:off x="4818100" y="755272"/>
            <a:ext cx="8191323" cy="904849"/>
          </a:xfrm>
          <a:prstGeom prst="rect">
            <a:avLst/>
          </a:prstGeom>
        </p:spPr>
        <p:txBody>
          <a:bodyPr anchor="t" rtlCol="false" tIns="0" lIns="0" bIns="0" rIns="0">
            <a:spAutoFit/>
          </a:bodyPr>
          <a:lstStyle/>
          <a:p>
            <a:pPr algn="ctr">
              <a:lnSpc>
                <a:spcPts val="6641"/>
              </a:lnSpc>
            </a:pPr>
            <a:r>
              <a:rPr lang="en-US" sz="6846">
                <a:solidFill>
                  <a:srgbClr val="214184"/>
                </a:solidFill>
                <a:latin typeface="Stinger Wide"/>
                <a:ea typeface="Stinger Wide"/>
                <a:cs typeface="Stinger Wide"/>
                <a:sym typeface="Stinger Wide"/>
              </a:rPr>
              <a:t>Thống kê thời gian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2571653">
            <a:off x="16043607" y="1949665"/>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721875" y="6598087"/>
            <a:ext cx="3969133" cy="4512515"/>
          </a:xfrm>
          <a:custGeom>
            <a:avLst/>
            <a:gdLst/>
            <a:ahLst/>
            <a:cxnLst/>
            <a:rect r="r" b="b" t="t" l="l"/>
            <a:pathLst>
              <a:path h="4512515" w="3969133">
                <a:moveTo>
                  <a:pt x="0" y="0"/>
                </a:moveTo>
                <a:lnTo>
                  <a:pt x="3969132" y="0"/>
                </a:lnTo>
                <a:lnTo>
                  <a:pt x="3969132" y="4512515"/>
                </a:lnTo>
                <a:lnTo>
                  <a:pt x="0" y="4512515"/>
                </a:lnTo>
                <a:lnTo>
                  <a:pt x="0" y="0"/>
                </a:lnTo>
                <a:close/>
              </a:path>
            </a:pathLst>
          </a:custGeom>
          <a:blipFill>
            <a:blip r:embed="rId4"/>
            <a:stretch>
              <a:fillRect l="0" t="0" r="0" b="0"/>
            </a:stretch>
          </a:blipFill>
        </p:spPr>
      </p:sp>
      <p:sp>
        <p:nvSpPr>
          <p:cNvPr name="Freeform 4" id="4"/>
          <p:cNvSpPr/>
          <p:nvPr/>
        </p:nvSpPr>
        <p:spPr>
          <a:xfrm flipH="false" flipV="false" rot="0">
            <a:off x="-611425" y="6598087"/>
            <a:ext cx="3280251" cy="4108874"/>
          </a:xfrm>
          <a:custGeom>
            <a:avLst/>
            <a:gdLst/>
            <a:ahLst/>
            <a:cxnLst/>
            <a:rect r="r" b="b" t="t" l="l"/>
            <a:pathLst>
              <a:path h="4108874" w="3280251">
                <a:moveTo>
                  <a:pt x="0" y="0"/>
                </a:moveTo>
                <a:lnTo>
                  <a:pt x="3280250" y="0"/>
                </a:lnTo>
                <a:lnTo>
                  <a:pt x="3280250" y="4108874"/>
                </a:lnTo>
                <a:lnTo>
                  <a:pt x="0" y="4108874"/>
                </a:lnTo>
                <a:lnTo>
                  <a:pt x="0" y="0"/>
                </a:lnTo>
                <a:close/>
              </a:path>
            </a:pathLst>
          </a:custGeom>
          <a:blipFill>
            <a:blip r:embed="rId5"/>
            <a:stretch>
              <a:fillRect l="0" t="0" r="0" b="0"/>
            </a:stretch>
          </a:blipFill>
        </p:spPr>
      </p:sp>
      <p:sp>
        <p:nvSpPr>
          <p:cNvPr name="Freeform 5" id="5"/>
          <p:cNvSpPr/>
          <p:nvPr/>
        </p:nvSpPr>
        <p:spPr>
          <a:xfrm flipH="false" flipV="false" rot="3921125">
            <a:off x="12766498" y="-1741514"/>
            <a:ext cx="5550511" cy="5550511"/>
          </a:xfrm>
          <a:custGeom>
            <a:avLst/>
            <a:gdLst/>
            <a:ahLst/>
            <a:cxnLst/>
            <a:rect r="r" b="b" t="t" l="l"/>
            <a:pathLst>
              <a:path h="5550511" w="5550511">
                <a:moveTo>
                  <a:pt x="0" y="0"/>
                </a:moveTo>
                <a:lnTo>
                  <a:pt x="5550511" y="0"/>
                </a:lnTo>
                <a:lnTo>
                  <a:pt x="5550511" y="5550511"/>
                </a:lnTo>
                <a:lnTo>
                  <a:pt x="0" y="55505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0" y="-710214"/>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2571653">
            <a:off x="-3050082" y="2465162"/>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0166210" y="7892064"/>
            <a:ext cx="4647276" cy="3099786"/>
          </a:xfrm>
          <a:custGeom>
            <a:avLst/>
            <a:gdLst/>
            <a:ahLst/>
            <a:cxnLst/>
            <a:rect r="r" b="b" t="t" l="l"/>
            <a:pathLst>
              <a:path h="3099786" w="4647276">
                <a:moveTo>
                  <a:pt x="0" y="0"/>
                </a:moveTo>
                <a:lnTo>
                  <a:pt x="4647276" y="0"/>
                </a:lnTo>
                <a:lnTo>
                  <a:pt x="4647276" y="3099786"/>
                </a:lnTo>
                <a:lnTo>
                  <a:pt x="0" y="3099786"/>
                </a:lnTo>
                <a:lnTo>
                  <a:pt x="0"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true" flipV="false" rot="0">
            <a:off x="3281798" y="7892064"/>
            <a:ext cx="4647276" cy="3099786"/>
          </a:xfrm>
          <a:custGeom>
            <a:avLst/>
            <a:gdLst/>
            <a:ahLst/>
            <a:cxnLst/>
            <a:rect r="r" b="b" t="t" l="l"/>
            <a:pathLst>
              <a:path h="3099786" w="4647276">
                <a:moveTo>
                  <a:pt x="4647276" y="0"/>
                </a:moveTo>
                <a:lnTo>
                  <a:pt x="0" y="0"/>
                </a:lnTo>
                <a:lnTo>
                  <a:pt x="0" y="3099786"/>
                </a:lnTo>
                <a:lnTo>
                  <a:pt x="4647276" y="3099786"/>
                </a:lnTo>
                <a:lnTo>
                  <a:pt x="4647276"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5004405" y="2107135"/>
            <a:ext cx="7818714" cy="7574379"/>
          </a:xfrm>
          <a:custGeom>
            <a:avLst/>
            <a:gdLst/>
            <a:ahLst/>
            <a:cxnLst/>
            <a:rect r="r" b="b" t="t" l="l"/>
            <a:pathLst>
              <a:path h="7574379" w="7818714">
                <a:moveTo>
                  <a:pt x="0" y="0"/>
                </a:moveTo>
                <a:lnTo>
                  <a:pt x="7818713" y="0"/>
                </a:lnTo>
                <a:lnTo>
                  <a:pt x="7818713" y="7574379"/>
                </a:lnTo>
                <a:lnTo>
                  <a:pt x="0" y="7574379"/>
                </a:lnTo>
                <a:lnTo>
                  <a:pt x="0" y="0"/>
                </a:lnTo>
                <a:close/>
              </a:path>
            </a:pathLst>
          </a:custGeom>
          <a:blipFill>
            <a:blip r:embed="rId12"/>
            <a:stretch>
              <a:fillRect l="0" t="0" r="0" b="0"/>
            </a:stretch>
          </a:blipFill>
        </p:spPr>
      </p:sp>
      <p:sp>
        <p:nvSpPr>
          <p:cNvPr name="TextBox 11" id="11"/>
          <p:cNvSpPr txBox="true"/>
          <p:nvPr/>
        </p:nvSpPr>
        <p:spPr>
          <a:xfrm rot="0">
            <a:off x="4818100" y="223850"/>
            <a:ext cx="8191323" cy="1743049"/>
          </a:xfrm>
          <a:prstGeom prst="rect">
            <a:avLst/>
          </a:prstGeom>
        </p:spPr>
        <p:txBody>
          <a:bodyPr anchor="t" rtlCol="false" tIns="0" lIns="0" bIns="0" rIns="0">
            <a:spAutoFit/>
          </a:bodyPr>
          <a:lstStyle/>
          <a:p>
            <a:pPr algn="ctr">
              <a:lnSpc>
                <a:spcPts val="6641"/>
              </a:lnSpc>
            </a:pPr>
            <a:r>
              <a:rPr lang="en-US" sz="6846">
                <a:solidFill>
                  <a:srgbClr val="214184"/>
                </a:solidFill>
                <a:latin typeface="Stinger Wide"/>
                <a:ea typeface="Stinger Wide"/>
                <a:cs typeface="Stinger Wide"/>
                <a:sym typeface="Stinger Wide"/>
              </a:rPr>
              <a:t>Tỷ lệ thắng của các đội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2571653">
            <a:off x="16043607" y="1949665"/>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721875" y="6598087"/>
            <a:ext cx="3969133" cy="4512515"/>
          </a:xfrm>
          <a:custGeom>
            <a:avLst/>
            <a:gdLst/>
            <a:ahLst/>
            <a:cxnLst/>
            <a:rect r="r" b="b" t="t" l="l"/>
            <a:pathLst>
              <a:path h="4512515" w="3969133">
                <a:moveTo>
                  <a:pt x="0" y="0"/>
                </a:moveTo>
                <a:lnTo>
                  <a:pt x="3969132" y="0"/>
                </a:lnTo>
                <a:lnTo>
                  <a:pt x="3969132" y="4512515"/>
                </a:lnTo>
                <a:lnTo>
                  <a:pt x="0" y="4512515"/>
                </a:lnTo>
                <a:lnTo>
                  <a:pt x="0" y="0"/>
                </a:lnTo>
                <a:close/>
              </a:path>
            </a:pathLst>
          </a:custGeom>
          <a:blipFill>
            <a:blip r:embed="rId4"/>
            <a:stretch>
              <a:fillRect l="0" t="0" r="0" b="0"/>
            </a:stretch>
          </a:blipFill>
        </p:spPr>
      </p:sp>
      <p:sp>
        <p:nvSpPr>
          <p:cNvPr name="Freeform 4" id="4"/>
          <p:cNvSpPr/>
          <p:nvPr/>
        </p:nvSpPr>
        <p:spPr>
          <a:xfrm flipH="false" flipV="false" rot="0">
            <a:off x="-611425" y="6598087"/>
            <a:ext cx="3280251" cy="4108874"/>
          </a:xfrm>
          <a:custGeom>
            <a:avLst/>
            <a:gdLst/>
            <a:ahLst/>
            <a:cxnLst/>
            <a:rect r="r" b="b" t="t" l="l"/>
            <a:pathLst>
              <a:path h="4108874" w="3280251">
                <a:moveTo>
                  <a:pt x="0" y="0"/>
                </a:moveTo>
                <a:lnTo>
                  <a:pt x="3280250" y="0"/>
                </a:lnTo>
                <a:lnTo>
                  <a:pt x="3280250" y="4108874"/>
                </a:lnTo>
                <a:lnTo>
                  <a:pt x="0" y="4108874"/>
                </a:lnTo>
                <a:lnTo>
                  <a:pt x="0" y="0"/>
                </a:lnTo>
                <a:close/>
              </a:path>
            </a:pathLst>
          </a:custGeom>
          <a:blipFill>
            <a:blip r:embed="rId5"/>
            <a:stretch>
              <a:fillRect l="0" t="0" r="0" b="0"/>
            </a:stretch>
          </a:blipFill>
        </p:spPr>
      </p:sp>
      <p:sp>
        <p:nvSpPr>
          <p:cNvPr name="Freeform 5" id="5"/>
          <p:cNvSpPr/>
          <p:nvPr/>
        </p:nvSpPr>
        <p:spPr>
          <a:xfrm flipH="false" flipV="false" rot="3921125">
            <a:off x="12766498" y="-1741514"/>
            <a:ext cx="5550511" cy="5550511"/>
          </a:xfrm>
          <a:custGeom>
            <a:avLst/>
            <a:gdLst/>
            <a:ahLst/>
            <a:cxnLst/>
            <a:rect r="r" b="b" t="t" l="l"/>
            <a:pathLst>
              <a:path h="5550511" w="5550511">
                <a:moveTo>
                  <a:pt x="0" y="0"/>
                </a:moveTo>
                <a:lnTo>
                  <a:pt x="5550511" y="0"/>
                </a:lnTo>
                <a:lnTo>
                  <a:pt x="5550511" y="5550511"/>
                </a:lnTo>
                <a:lnTo>
                  <a:pt x="0" y="55505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0" y="-710214"/>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2571653">
            <a:off x="-3050082" y="2465162"/>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0166210" y="7892064"/>
            <a:ext cx="4647276" cy="3099786"/>
          </a:xfrm>
          <a:custGeom>
            <a:avLst/>
            <a:gdLst/>
            <a:ahLst/>
            <a:cxnLst/>
            <a:rect r="r" b="b" t="t" l="l"/>
            <a:pathLst>
              <a:path h="3099786" w="4647276">
                <a:moveTo>
                  <a:pt x="0" y="0"/>
                </a:moveTo>
                <a:lnTo>
                  <a:pt x="4647276" y="0"/>
                </a:lnTo>
                <a:lnTo>
                  <a:pt x="4647276" y="3099786"/>
                </a:lnTo>
                <a:lnTo>
                  <a:pt x="0" y="3099786"/>
                </a:lnTo>
                <a:lnTo>
                  <a:pt x="0"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true" flipV="false" rot="0">
            <a:off x="3281798" y="7892064"/>
            <a:ext cx="4647276" cy="3099786"/>
          </a:xfrm>
          <a:custGeom>
            <a:avLst/>
            <a:gdLst/>
            <a:ahLst/>
            <a:cxnLst/>
            <a:rect r="r" b="b" t="t" l="l"/>
            <a:pathLst>
              <a:path h="3099786" w="4647276">
                <a:moveTo>
                  <a:pt x="4647276" y="0"/>
                </a:moveTo>
                <a:lnTo>
                  <a:pt x="0" y="0"/>
                </a:lnTo>
                <a:lnTo>
                  <a:pt x="0" y="3099786"/>
                </a:lnTo>
                <a:lnTo>
                  <a:pt x="4647276" y="3099786"/>
                </a:lnTo>
                <a:lnTo>
                  <a:pt x="4647276"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3945567" y="2318332"/>
            <a:ext cx="9865679" cy="6536012"/>
          </a:xfrm>
          <a:custGeom>
            <a:avLst/>
            <a:gdLst/>
            <a:ahLst/>
            <a:cxnLst/>
            <a:rect r="r" b="b" t="t" l="l"/>
            <a:pathLst>
              <a:path h="6536012" w="9865679">
                <a:moveTo>
                  <a:pt x="0" y="0"/>
                </a:moveTo>
                <a:lnTo>
                  <a:pt x="9865679" y="0"/>
                </a:lnTo>
                <a:lnTo>
                  <a:pt x="9865679" y="6536013"/>
                </a:lnTo>
                <a:lnTo>
                  <a:pt x="0" y="6536013"/>
                </a:lnTo>
                <a:lnTo>
                  <a:pt x="0" y="0"/>
                </a:lnTo>
                <a:close/>
              </a:path>
            </a:pathLst>
          </a:custGeom>
          <a:blipFill>
            <a:blip r:embed="rId12"/>
            <a:stretch>
              <a:fillRect l="0" t="0" r="0" b="0"/>
            </a:stretch>
          </a:blipFill>
        </p:spPr>
      </p:sp>
      <p:sp>
        <p:nvSpPr>
          <p:cNvPr name="TextBox 11" id="11"/>
          <p:cNvSpPr txBox="true"/>
          <p:nvPr/>
        </p:nvSpPr>
        <p:spPr>
          <a:xfrm rot="0">
            <a:off x="5605436" y="755272"/>
            <a:ext cx="6545941" cy="904849"/>
          </a:xfrm>
          <a:prstGeom prst="rect">
            <a:avLst/>
          </a:prstGeom>
        </p:spPr>
        <p:txBody>
          <a:bodyPr anchor="t" rtlCol="false" tIns="0" lIns="0" bIns="0" rIns="0">
            <a:spAutoFit/>
          </a:bodyPr>
          <a:lstStyle/>
          <a:p>
            <a:pPr algn="ctr">
              <a:lnSpc>
                <a:spcPts val="6641"/>
              </a:lnSpc>
            </a:pPr>
            <a:r>
              <a:rPr lang="en-US" sz="6846">
                <a:solidFill>
                  <a:srgbClr val="214184"/>
                </a:solidFill>
                <a:latin typeface="Stinger Wide"/>
                <a:ea typeface="Stinger Wide"/>
                <a:cs typeface="Stinger Wide"/>
                <a:sym typeface="Stinger Wide"/>
              </a:rPr>
              <a:t>Top 5 pick</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2571653">
            <a:off x="16043607" y="1949665"/>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721875" y="6598087"/>
            <a:ext cx="3969133" cy="4512515"/>
          </a:xfrm>
          <a:custGeom>
            <a:avLst/>
            <a:gdLst/>
            <a:ahLst/>
            <a:cxnLst/>
            <a:rect r="r" b="b" t="t" l="l"/>
            <a:pathLst>
              <a:path h="4512515" w="3969133">
                <a:moveTo>
                  <a:pt x="0" y="0"/>
                </a:moveTo>
                <a:lnTo>
                  <a:pt x="3969132" y="0"/>
                </a:lnTo>
                <a:lnTo>
                  <a:pt x="3969132" y="4512515"/>
                </a:lnTo>
                <a:lnTo>
                  <a:pt x="0" y="4512515"/>
                </a:lnTo>
                <a:lnTo>
                  <a:pt x="0" y="0"/>
                </a:lnTo>
                <a:close/>
              </a:path>
            </a:pathLst>
          </a:custGeom>
          <a:blipFill>
            <a:blip r:embed="rId4"/>
            <a:stretch>
              <a:fillRect l="0" t="0" r="0" b="0"/>
            </a:stretch>
          </a:blipFill>
        </p:spPr>
      </p:sp>
      <p:sp>
        <p:nvSpPr>
          <p:cNvPr name="Freeform 4" id="4"/>
          <p:cNvSpPr/>
          <p:nvPr/>
        </p:nvSpPr>
        <p:spPr>
          <a:xfrm flipH="false" flipV="false" rot="0">
            <a:off x="-611425" y="6598087"/>
            <a:ext cx="3280251" cy="4108874"/>
          </a:xfrm>
          <a:custGeom>
            <a:avLst/>
            <a:gdLst/>
            <a:ahLst/>
            <a:cxnLst/>
            <a:rect r="r" b="b" t="t" l="l"/>
            <a:pathLst>
              <a:path h="4108874" w="3280251">
                <a:moveTo>
                  <a:pt x="0" y="0"/>
                </a:moveTo>
                <a:lnTo>
                  <a:pt x="3280250" y="0"/>
                </a:lnTo>
                <a:lnTo>
                  <a:pt x="3280250" y="4108874"/>
                </a:lnTo>
                <a:lnTo>
                  <a:pt x="0" y="4108874"/>
                </a:lnTo>
                <a:lnTo>
                  <a:pt x="0" y="0"/>
                </a:lnTo>
                <a:close/>
              </a:path>
            </a:pathLst>
          </a:custGeom>
          <a:blipFill>
            <a:blip r:embed="rId5"/>
            <a:stretch>
              <a:fillRect l="0" t="0" r="0" b="0"/>
            </a:stretch>
          </a:blipFill>
        </p:spPr>
      </p:sp>
      <p:sp>
        <p:nvSpPr>
          <p:cNvPr name="Freeform 5" id="5"/>
          <p:cNvSpPr/>
          <p:nvPr/>
        </p:nvSpPr>
        <p:spPr>
          <a:xfrm flipH="false" flipV="false" rot="3921125">
            <a:off x="12766498" y="-1741514"/>
            <a:ext cx="5550511" cy="5550511"/>
          </a:xfrm>
          <a:custGeom>
            <a:avLst/>
            <a:gdLst/>
            <a:ahLst/>
            <a:cxnLst/>
            <a:rect r="r" b="b" t="t" l="l"/>
            <a:pathLst>
              <a:path h="5550511" w="5550511">
                <a:moveTo>
                  <a:pt x="0" y="0"/>
                </a:moveTo>
                <a:lnTo>
                  <a:pt x="5550511" y="0"/>
                </a:lnTo>
                <a:lnTo>
                  <a:pt x="5550511" y="5550511"/>
                </a:lnTo>
                <a:lnTo>
                  <a:pt x="0" y="55505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0" y="-710214"/>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2571653">
            <a:off x="-3050082" y="2465162"/>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0166210" y="7892064"/>
            <a:ext cx="4647276" cy="3099786"/>
          </a:xfrm>
          <a:custGeom>
            <a:avLst/>
            <a:gdLst/>
            <a:ahLst/>
            <a:cxnLst/>
            <a:rect r="r" b="b" t="t" l="l"/>
            <a:pathLst>
              <a:path h="3099786" w="4647276">
                <a:moveTo>
                  <a:pt x="0" y="0"/>
                </a:moveTo>
                <a:lnTo>
                  <a:pt x="4647276" y="0"/>
                </a:lnTo>
                <a:lnTo>
                  <a:pt x="4647276" y="3099786"/>
                </a:lnTo>
                <a:lnTo>
                  <a:pt x="0" y="3099786"/>
                </a:lnTo>
                <a:lnTo>
                  <a:pt x="0"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true" flipV="false" rot="0">
            <a:off x="3281798" y="7892064"/>
            <a:ext cx="4647276" cy="3099786"/>
          </a:xfrm>
          <a:custGeom>
            <a:avLst/>
            <a:gdLst/>
            <a:ahLst/>
            <a:cxnLst/>
            <a:rect r="r" b="b" t="t" l="l"/>
            <a:pathLst>
              <a:path h="3099786" w="4647276">
                <a:moveTo>
                  <a:pt x="4647276" y="0"/>
                </a:moveTo>
                <a:lnTo>
                  <a:pt x="0" y="0"/>
                </a:lnTo>
                <a:lnTo>
                  <a:pt x="0" y="3099786"/>
                </a:lnTo>
                <a:lnTo>
                  <a:pt x="4647276" y="3099786"/>
                </a:lnTo>
                <a:lnTo>
                  <a:pt x="4647276"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4069578" y="2098123"/>
            <a:ext cx="9717812" cy="6304431"/>
          </a:xfrm>
          <a:custGeom>
            <a:avLst/>
            <a:gdLst/>
            <a:ahLst/>
            <a:cxnLst/>
            <a:rect r="r" b="b" t="t" l="l"/>
            <a:pathLst>
              <a:path h="6304431" w="9717812">
                <a:moveTo>
                  <a:pt x="0" y="0"/>
                </a:moveTo>
                <a:lnTo>
                  <a:pt x="9717812" y="0"/>
                </a:lnTo>
                <a:lnTo>
                  <a:pt x="9717812" y="6304430"/>
                </a:lnTo>
                <a:lnTo>
                  <a:pt x="0" y="6304430"/>
                </a:lnTo>
                <a:lnTo>
                  <a:pt x="0" y="0"/>
                </a:lnTo>
                <a:close/>
              </a:path>
            </a:pathLst>
          </a:custGeom>
          <a:blipFill>
            <a:blip r:embed="rId12"/>
            <a:stretch>
              <a:fillRect l="0" t="0" r="0" b="0"/>
            </a:stretch>
          </a:blipFill>
        </p:spPr>
      </p:sp>
      <p:sp>
        <p:nvSpPr>
          <p:cNvPr name="TextBox 11" id="11"/>
          <p:cNvSpPr txBox="true"/>
          <p:nvPr/>
        </p:nvSpPr>
        <p:spPr>
          <a:xfrm rot="0">
            <a:off x="5605436" y="755272"/>
            <a:ext cx="6545941" cy="904849"/>
          </a:xfrm>
          <a:prstGeom prst="rect">
            <a:avLst/>
          </a:prstGeom>
        </p:spPr>
        <p:txBody>
          <a:bodyPr anchor="t" rtlCol="false" tIns="0" lIns="0" bIns="0" rIns="0">
            <a:spAutoFit/>
          </a:bodyPr>
          <a:lstStyle/>
          <a:p>
            <a:pPr algn="ctr">
              <a:lnSpc>
                <a:spcPts val="6641"/>
              </a:lnSpc>
            </a:pPr>
            <a:r>
              <a:rPr lang="en-US" sz="6846">
                <a:solidFill>
                  <a:srgbClr val="214184"/>
                </a:solidFill>
                <a:latin typeface="Stinger Wide"/>
                <a:ea typeface="Stinger Wide"/>
                <a:cs typeface="Stinger Wide"/>
                <a:sym typeface="Stinger Wide"/>
              </a:rPr>
              <a:t>Top 5 ban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2571653">
            <a:off x="16043607" y="1949665"/>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721875" y="6598087"/>
            <a:ext cx="3969133" cy="4512515"/>
          </a:xfrm>
          <a:custGeom>
            <a:avLst/>
            <a:gdLst/>
            <a:ahLst/>
            <a:cxnLst/>
            <a:rect r="r" b="b" t="t" l="l"/>
            <a:pathLst>
              <a:path h="4512515" w="3969133">
                <a:moveTo>
                  <a:pt x="0" y="0"/>
                </a:moveTo>
                <a:lnTo>
                  <a:pt x="3969132" y="0"/>
                </a:lnTo>
                <a:lnTo>
                  <a:pt x="3969132" y="4512515"/>
                </a:lnTo>
                <a:lnTo>
                  <a:pt x="0" y="4512515"/>
                </a:lnTo>
                <a:lnTo>
                  <a:pt x="0" y="0"/>
                </a:lnTo>
                <a:close/>
              </a:path>
            </a:pathLst>
          </a:custGeom>
          <a:blipFill>
            <a:blip r:embed="rId4"/>
            <a:stretch>
              <a:fillRect l="0" t="0" r="0" b="0"/>
            </a:stretch>
          </a:blipFill>
        </p:spPr>
      </p:sp>
      <p:sp>
        <p:nvSpPr>
          <p:cNvPr name="Freeform 4" id="4"/>
          <p:cNvSpPr/>
          <p:nvPr/>
        </p:nvSpPr>
        <p:spPr>
          <a:xfrm flipH="false" flipV="false" rot="0">
            <a:off x="-611425" y="6598087"/>
            <a:ext cx="3280251" cy="4108874"/>
          </a:xfrm>
          <a:custGeom>
            <a:avLst/>
            <a:gdLst/>
            <a:ahLst/>
            <a:cxnLst/>
            <a:rect r="r" b="b" t="t" l="l"/>
            <a:pathLst>
              <a:path h="4108874" w="3280251">
                <a:moveTo>
                  <a:pt x="0" y="0"/>
                </a:moveTo>
                <a:lnTo>
                  <a:pt x="3280250" y="0"/>
                </a:lnTo>
                <a:lnTo>
                  <a:pt x="3280250" y="4108874"/>
                </a:lnTo>
                <a:lnTo>
                  <a:pt x="0" y="4108874"/>
                </a:lnTo>
                <a:lnTo>
                  <a:pt x="0" y="0"/>
                </a:lnTo>
                <a:close/>
              </a:path>
            </a:pathLst>
          </a:custGeom>
          <a:blipFill>
            <a:blip r:embed="rId5"/>
            <a:stretch>
              <a:fillRect l="0" t="0" r="0" b="0"/>
            </a:stretch>
          </a:blipFill>
        </p:spPr>
      </p:sp>
      <p:sp>
        <p:nvSpPr>
          <p:cNvPr name="Freeform 5" id="5"/>
          <p:cNvSpPr/>
          <p:nvPr/>
        </p:nvSpPr>
        <p:spPr>
          <a:xfrm flipH="false" flipV="false" rot="3921125">
            <a:off x="12766498" y="-1741514"/>
            <a:ext cx="5550511" cy="5550511"/>
          </a:xfrm>
          <a:custGeom>
            <a:avLst/>
            <a:gdLst/>
            <a:ahLst/>
            <a:cxnLst/>
            <a:rect r="r" b="b" t="t" l="l"/>
            <a:pathLst>
              <a:path h="5550511" w="5550511">
                <a:moveTo>
                  <a:pt x="0" y="0"/>
                </a:moveTo>
                <a:lnTo>
                  <a:pt x="5550511" y="0"/>
                </a:lnTo>
                <a:lnTo>
                  <a:pt x="5550511" y="5550511"/>
                </a:lnTo>
                <a:lnTo>
                  <a:pt x="0" y="55505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0" y="-710214"/>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2571653">
            <a:off x="-3050082" y="2465162"/>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0166210" y="7892064"/>
            <a:ext cx="4647276" cy="3099786"/>
          </a:xfrm>
          <a:custGeom>
            <a:avLst/>
            <a:gdLst/>
            <a:ahLst/>
            <a:cxnLst/>
            <a:rect r="r" b="b" t="t" l="l"/>
            <a:pathLst>
              <a:path h="3099786" w="4647276">
                <a:moveTo>
                  <a:pt x="0" y="0"/>
                </a:moveTo>
                <a:lnTo>
                  <a:pt x="4647276" y="0"/>
                </a:lnTo>
                <a:lnTo>
                  <a:pt x="4647276" y="3099786"/>
                </a:lnTo>
                <a:lnTo>
                  <a:pt x="0" y="3099786"/>
                </a:lnTo>
                <a:lnTo>
                  <a:pt x="0"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true" flipV="false" rot="0">
            <a:off x="3281798" y="7892064"/>
            <a:ext cx="4647276" cy="3099786"/>
          </a:xfrm>
          <a:custGeom>
            <a:avLst/>
            <a:gdLst/>
            <a:ahLst/>
            <a:cxnLst/>
            <a:rect r="r" b="b" t="t" l="l"/>
            <a:pathLst>
              <a:path h="3099786" w="4647276">
                <a:moveTo>
                  <a:pt x="4647276" y="0"/>
                </a:moveTo>
                <a:lnTo>
                  <a:pt x="0" y="0"/>
                </a:lnTo>
                <a:lnTo>
                  <a:pt x="0" y="3099786"/>
                </a:lnTo>
                <a:lnTo>
                  <a:pt x="4647276" y="3099786"/>
                </a:lnTo>
                <a:lnTo>
                  <a:pt x="4647276"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4070864" y="2442347"/>
            <a:ext cx="9588034" cy="6411998"/>
          </a:xfrm>
          <a:custGeom>
            <a:avLst/>
            <a:gdLst/>
            <a:ahLst/>
            <a:cxnLst/>
            <a:rect r="r" b="b" t="t" l="l"/>
            <a:pathLst>
              <a:path h="6411998" w="9588034">
                <a:moveTo>
                  <a:pt x="0" y="0"/>
                </a:moveTo>
                <a:lnTo>
                  <a:pt x="9588034" y="0"/>
                </a:lnTo>
                <a:lnTo>
                  <a:pt x="9588034" y="6411998"/>
                </a:lnTo>
                <a:lnTo>
                  <a:pt x="0" y="6411998"/>
                </a:lnTo>
                <a:lnTo>
                  <a:pt x="0" y="0"/>
                </a:lnTo>
                <a:close/>
              </a:path>
            </a:pathLst>
          </a:custGeom>
          <a:blipFill>
            <a:blip r:embed="rId12"/>
            <a:stretch>
              <a:fillRect l="0" t="0" r="0" b="0"/>
            </a:stretch>
          </a:blipFill>
        </p:spPr>
      </p:sp>
      <p:sp>
        <p:nvSpPr>
          <p:cNvPr name="TextBox 11" id="11"/>
          <p:cNvSpPr txBox="true"/>
          <p:nvPr/>
        </p:nvSpPr>
        <p:spPr>
          <a:xfrm rot="0">
            <a:off x="5605436" y="755272"/>
            <a:ext cx="6545941" cy="904849"/>
          </a:xfrm>
          <a:prstGeom prst="rect">
            <a:avLst/>
          </a:prstGeom>
        </p:spPr>
        <p:txBody>
          <a:bodyPr anchor="t" rtlCol="false" tIns="0" lIns="0" bIns="0" rIns="0">
            <a:spAutoFit/>
          </a:bodyPr>
          <a:lstStyle/>
          <a:p>
            <a:pPr algn="ctr">
              <a:lnSpc>
                <a:spcPts val="6641"/>
              </a:lnSpc>
            </a:pPr>
            <a:r>
              <a:rPr lang="en-US" sz="6846">
                <a:solidFill>
                  <a:srgbClr val="214184"/>
                </a:solidFill>
                <a:latin typeface="Stinger Wide"/>
                <a:ea typeface="Stinger Wide"/>
                <a:cs typeface="Stinger Wide"/>
                <a:sym typeface="Stinger Wide"/>
              </a:rPr>
              <a:t>Counter Billow</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2571653">
            <a:off x="16043607" y="1949665"/>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721875" y="6598087"/>
            <a:ext cx="3969133" cy="4512515"/>
          </a:xfrm>
          <a:custGeom>
            <a:avLst/>
            <a:gdLst/>
            <a:ahLst/>
            <a:cxnLst/>
            <a:rect r="r" b="b" t="t" l="l"/>
            <a:pathLst>
              <a:path h="4512515" w="3969133">
                <a:moveTo>
                  <a:pt x="0" y="0"/>
                </a:moveTo>
                <a:lnTo>
                  <a:pt x="3969132" y="0"/>
                </a:lnTo>
                <a:lnTo>
                  <a:pt x="3969132" y="4512515"/>
                </a:lnTo>
                <a:lnTo>
                  <a:pt x="0" y="4512515"/>
                </a:lnTo>
                <a:lnTo>
                  <a:pt x="0" y="0"/>
                </a:lnTo>
                <a:close/>
              </a:path>
            </a:pathLst>
          </a:custGeom>
          <a:blipFill>
            <a:blip r:embed="rId4"/>
            <a:stretch>
              <a:fillRect l="0" t="0" r="0" b="0"/>
            </a:stretch>
          </a:blipFill>
        </p:spPr>
      </p:sp>
      <p:sp>
        <p:nvSpPr>
          <p:cNvPr name="Freeform 4" id="4"/>
          <p:cNvSpPr/>
          <p:nvPr/>
        </p:nvSpPr>
        <p:spPr>
          <a:xfrm flipH="false" flipV="false" rot="0">
            <a:off x="-611425" y="6598087"/>
            <a:ext cx="3280251" cy="4108874"/>
          </a:xfrm>
          <a:custGeom>
            <a:avLst/>
            <a:gdLst/>
            <a:ahLst/>
            <a:cxnLst/>
            <a:rect r="r" b="b" t="t" l="l"/>
            <a:pathLst>
              <a:path h="4108874" w="3280251">
                <a:moveTo>
                  <a:pt x="0" y="0"/>
                </a:moveTo>
                <a:lnTo>
                  <a:pt x="3280250" y="0"/>
                </a:lnTo>
                <a:lnTo>
                  <a:pt x="3280250" y="4108874"/>
                </a:lnTo>
                <a:lnTo>
                  <a:pt x="0" y="4108874"/>
                </a:lnTo>
                <a:lnTo>
                  <a:pt x="0" y="0"/>
                </a:lnTo>
                <a:close/>
              </a:path>
            </a:pathLst>
          </a:custGeom>
          <a:blipFill>
            <a:blip r:embed="rId5"/>
            <a:stretch>
              <a:fillRect l="0" t="0" r="0" b="0"/>
            </a:stretch>
          </a:blipFill>
        </p:spPr>
      </p:sp>
      <p:sp>
        <p:nvSpPr>
          <p:cNvPr name="Freeform 5" id="5"/>
          <p:cNvSpPr/>
          <p:nvPr/>
        </p:nvSpPr>
        <p:spPr>
          <a:xfrm flipH="false" flipV="false" rot="3921125">
            <a:off x="12766498" y="-1741514"/>
            <a:ext cx="5550511" cy="5550511"/>
          </a:xfrm>
          <a:custGeom>
            <a:avLst/>
            <a:gdLst/>
            <a:ahLst/>
            <a:cxnLst/>
            <a:rect r="r" b="b" t="t" l="l"/>
            <a:pathLst>
              <a:path h="5550511" w="5550511">
                <a:moveTo>
                  <a:pt x="0" y="0"/>
                </a:moveTo>
                <a:lnTo>
                  <a:pt x="5550511" y="0"/>
                </a:lnTo>
                <a:lnTo>
                  <a:pt x="5550511" y="5550511"/>
                </a:lnTo>
                <a:lnTo>
                  <a:pt x="0" y="55505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0" y="-710214"/>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2571653">
            <a:off x="-3050082" y="2465162"/>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0166210" y="7892064"/>
            <a:ext cx="4647276" cy="3099786"/>
          </a:xfrm>
          <a:custGeom>
            <a:avLst/>
            <a:gdLst/>
            <a:ahLst/>
            <a:cxnLst/>
            <a:rect r="r" b="b" t="t" l="l"/>
            <a:pathLst>
              <a:path h="3099786" w="4647276">
                <a:moveTo>
                  <a:pt x="0" y="0"/>
                </a:moveTo>
                <a:lnTo>
                  <a:pt x="4647276" y="0"/>
                </a:lnTo>
                <a:lnTo>
                  <a:pt x="4647276" y="3099786"/>
                </a:lnTo>
                <a:lnTo>
                  <a:pt x="0" y="3099786"/>
                </a:lnTo>
                <a:lnTo>
                  <a:pt x="0"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true" flipV="false" rot="0">
            <a:off x="3281798" y="7892064"/>
            <a:ext cx="4647276" cy="3099786"/>
          </a:xfrm>
          <a:custGeom>
            <a:avLst/>
            <a:gdLst/>
            <a:ahLst/>
            <a:cxnLst/>
            <a:rect r="r" b="b" t="t" l="l"/>
            <a:pathLst>
              <a:path h="3099786" w="4647276">
                <a:moveTo>
                  <a:pt x="4647276" y="0"/>
                </a:moveTo>
                <a:lnTo>
                  <a:pt x="0" y="0"/>
                </a:lnTo>
                <a:lnTo>
                  <a:pt x="0" y="3099786"/>
                </a:lnTo>
                <a:lnTo>
                  <a:pt x="4647276" y="3099786"/>
                </a:lnTo>
                <a:lnTo>
                  <a:pt x="4647276"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4169109" y="2286057"/>
            <a:ext cx="9418595" cy="6180953"/>
          </a:xfrm>
          <a:custGeom>
            <a:avLst/>
            <a:gdLst/>
            <a:ahLst/>
            <a:cxnLst/>
            <a:rect r="r" b="b" t="t" l="l"/>
            <a:pathLst>
              <a:path h="6180953" w="9418595">
                <a:moveTo>
                  <a:pt x="0" y="0"/>
                </a:moveTo>
                <a:lnTo>
                  <a:pt x="9418595" y="0"/>
                </a:lnTo>
                <a:lnTo>
                  <a:pt x="9418595" y="6180952"/>
                </a:lnTo>
                <a:lnTo>
                  <a:pt x="0" y="6180952"/>
                </a:lnTo>
                <a:lnTo>
                  <a:pt x="0" y="0"/>
                </a:lnTo>
                <a:close/>
              </a:path>
            </a:pathLst>
          </a:custGeom>
          <a:blipFill>
            <a:blip r:embed="rId12"/>
            <a:stretch>
              <a:fillRect l="0" t="0" r="0" b="0"/>
            </a:stretch>
          </a:blipFill>
        </p:spPr>
      </p:sp>
      <p:sp>
        <p:nvSpPr>
          <p:cNvPr name="TextBox 11" id="11"/>
          <p:cNvSpPr txBox="true"/>
          <p:nvPr/>
        </p:nvSpPr>
        <p:spPr>
          <a:xfrm rot="0">
            <a:off x="5160963" y="755272"/>
            <a:ext cx="7328885" cy="904849"/>
          </a:xfrm>
          <a:prstGeom prst="rect">
            <a:avLst/>
          </a:prstGeom>
        </p:spPr>
        <p:txBody>
          <a:bodyPr anchor="t" rtlCol="false" tIns="0" lIns="0" bIns="0" rIns="0">
            <a:spAutoFit/>
          </a:bodyPr>
          <a:lstStyle/>
          <a:p>
            <a:pPr algn="ctr">
              <a:lnSpc>
                <a:spcPts val="6641"/>
              </a:lnSpc>
            </a:pPr>
            <a:r>
              <a:rPr lang="en-US" sz="6846">
                <a:solidFill>
                  <a:srgbClr val="214184"/>
                </a:solidFill>
                <a:latin typeface="Stinger Wide"/>
                <a:ea typeface="Stinger Wide"/>
                <a:cs typeface="Stinger Wide"/>
                <a:sym typeface="Stinger Wide"/>
              </a:rPr>
              <a:t>Counter Hayate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2571653">
            <a:off x="16043607" y="1949665"/>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721875" y="6598087"/>
            <a:ext cx="3969133" cy="4512515"/>
          </a:xfrm>
          <a:custGeom>
            <a:avLst/>
            <a:gdLst/>
            <a:ahLst/>
            <a:cxnLst/>
            <a:rect r="r" b="b" t="t" l="l"/>
            <a:pathLst>
              <a:path h="4512515" w="3969133">
                <a:moveTo>
                  <a:pt x="0" y="0"/>
                </a:moveTo>
                <a:lnTo>
                  <a:pt x="3969132" y="0"/>
                </a:lnTo>
                <a:lnTo>
                  <a:pt x="3969132" y="4512515"/>
                </a:lnTo>
                <a:lnTo>
                  <a:pt x="0" y="4512515"/>
                </a:lnTo>
                <a:lnTo>
                  <a:pt x="0" y="0"/>
                </a:lnTo>
                <a:close/>
              </a:path>
            </a:pathLst>
          </a:custGeom>
          <a:blipFill>
            <a:blip r:embed="rId4"/>
            <a:stretch>
              <a:fillRect l="0" t="0" r="0" b="0"/>
            </a:stretch>
          </a:blipFill>
        </p:spPr>
      </p:sp>
      <p:sp>
        <p:nvSpPr>
          <p:cNvPr name="Freeform 4" id="4"/>
          <p:cNvSpPr/>
          <p:nvPr/>
        </p:nvSpPr>
        <p:spPr>
          <a:xfrm flipH="false" flipV="false" rot="0">
            <a:off x="-611425" y="6598087"/>
            <a:ext cx="3280251" cy="4108874"/>
          </a:xfrm>
          <a:custGeom>
            <a:avLst/>
            <a:gdLst/>
            <a:ahLst/>
            <a:cxnLst/>
            <a:rect r="r" b="b" t="t" l="l"/>
            <a:pathLst>
              <a:path h="4108874" w="3280251">
                <a:moveTo>
                  <a:pt x="0" y="0"/>
                </a:moveTo>
                <a:lnTo>
                  <a:pt x="3280250" y="0"/>
                </a:lnTo>
                <a:lnTo>
                  <a:pt x="3280250" y="4108874"/>
                </a:lnTo>
                <a:lnTo>
                  <a:pt x="0" y="4108874"/>
                </a:lnTo>
                <a:lnTo>
                  <a:pt x="0" y="0"/>
                </a:lnTo>
                <a:close/>
              </a:path>
            </a:pathLst>
          </a:custGeom>
          <a:blipFill>
            <a:blip r:embed="rId5"/>
            <a:stretch>
              <a:fillRect l="0" t="0" r="0" b="0"/>
            </a:stretch>
          </a:blipFill>
        </p:spPr>
      </p:sp>
      <p:sp>
        <p:nvSpPr>
          <p:cNvPr name="Freeform 5" id="5"/>
          <p:cNvSpPr/>
          <p:nvPr/>
        </p:nvSpPr>
        <p:spPr>
          <a:xfrm flipH="false" flipV="false" rot="3921125">
            <a:off x="12766498" y="-1741514"/>
            <a:ext cx="5550511" cy="5550511"/>
          </a:xfrm>
          <a:custGeom>
            <a:avLst/>
            <a:gdLst/>
            <a:ahLst/>
            <a:cxnLst/>
            <a:rect r="r" b="b" t="t" l="l"/>
            <a:pathLst>
              <a:path h="5550511" w="5550511">
                <a:moveTo>
                  <a:pt x="0" y="0"/>
                </a:moveTo>
                <a:lnTo>
                  <a:pt x="5550511" y="0"/>
                </a:lnTo>
                <a:lnTo>
                  <a:pt x="5550511" y="5550511"/>
                </a:lnTo>
                <a:lnTo>
                  <a:pt x="0" y="55505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0" y="-710214"/>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2571653">
            <a:off x="-3050082" y="2465162"/>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0166210" y="7892064"/>
            <a:ext cx="4647276" cy="3099786"/>
          </a:xfrm>
          <a:custGeom>
            <a:avLst/>
            <a:gdLst/>
            <a:ahLst/>
            <a:cxnLst/>
            <a:rect r="r" b="b" t="t" l="l"/>
            <a:pathLst>
              <a:path h="3099786" w="4647276">
                <a:moveTo>
                  <a:pt x="0" y="0"/>
                </a:moveTo>
                <a:lnTo>
                  <a:pt x="4647276" y="0"/>
                </a:lnTo>
                <a:lnTo>
                  <a:pt x="4647276" y="3099786"/>
                </a:lnTo>
                <a:lnTo>
                  <a:pt x="0" y="3099786"/>
                </a:lnTo>
                <a:lnTo>
                  <a:pt x="0"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true" flipV="false" rot="0">
            <a:off x="3281798" y="7892064"/>
            <a:ext cx="4647276" cy="3099786"/>
          </a:xfrm>
          <a:custGeom>
            <a:avLst/>
            <a:gdLst/>
            <a:ahLst/>
            <a:cxnLst/>
            <a:rect r="r" b="b" t="t" l="l"/>
            <a:pathLst>
              <a:path h="3099786" w="4647276">
                <a:moveTo>
                  <a:pt x="4647276" y="0"/>
                </a:moveTo>
                <a:lnTo>
                  <a:pt x="0" y="0"/>
                </a:lnTo>
                <a:lnTo>
                  <a:pt x="0" y="3099786"/>
                </a:lnTo>
                <a:lnTo>
                  <a:pt x="4647276" y="3099786"/>
                </a:lnTo>
                <a:lnTo>
                  <a:pt x="4647276"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4323565" y="2230798"/>
            <a:ext cx="9376115" cy="6246837"/>
          </a:xfrm>
          <a:custGeom>
            <a:avLst/>
            <a:gdLst/>
            <a:ahLst/>
            <a:cxnLst/>
            <a:rect r="r" b="b" t="t" l="l"/>
            <a:pathLst>
              <a:path h="6246837" w="9376115">
                <a:moveTo>
                  <a:pt x="0" y="0"/>
                </a:moveTo>
                <a:lnTo>
                  <a:pt x="9376116" y="0"/>
                </a:lnTo>
                <a:lnTo>
                  <a:pt x="9376116" y="6246837"/>
                </a:lnTo>
                <a:lnTo>
                  <a:pt x="0" y="6246837"/>
                </a:lnTo>
                <a:lnTo>
                  <a:pt x="0" y="0"/>
                </a:lnTo>
                <a:close/>
              </a:path>
            </a:pathLst>
          </a:custGeom>
          <a:blipFill>
            <a:blip r:embed="rId12"/>
            <a:stretch>
              <a:fillRect l="0" t="0" r="0" b="0"/>
            </a:stretch>
          </a:blipFill>
        </p:spPr>
      </p:sp>
      <p:sp>
        <p:nvSpPr>
          <p:cNvPr name="TextBox 11" id="11"/>
          <p:cNvSpPr txBox="true"/>
          <p:nvPr/>
        </p:nvSpPr>
        <p:spPr>
          <a:xfrm rot="0">
            <a:off x="5054945" y="755272"/>
            <a:ext cx="7717633" cy="904849"/>
          </a:xfrm>
          <a:prstGeom prst="rect">
            <a:avLst/>
          </a:prstGeom>
        </p:spPr>
        <p:txBody>
          <a:bodyPr anchor="t" rtlCol="false" tIns="0" lIns="0" bIns="0" rIns="0">
            <a:spAutoFit/>
          </a:bodyPr>
          <a:lstStyle/>
          <a:p>
            <a:pPr algn="ctr">
              <a:lnSpc>
                <a:spcPts val="6641"/>
              </a:lnSpc>
            </a:pPr>
            <a:r>
              <a:rPr lang="en-US" sz="6846">
                <a:solidFill>
                  <a:srgbClr val="214184"/>
                </a:solidFill>
                <a:latin typeface="Stinger Wide"/>
                <a:ea typeface="Stinger Wide"/>
                <a:cs typeface="Stinger Wide"/>
                <a:sym typeface="Stinger Wide"/>
              </a:rPr>
              <a:t>Counter Mganga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2571653">
            <a:off x="16043607" y="1949665"/>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721875" y="6598087"/>
            <a:ext cx="3969133" cy="4512515"/>
          </a:xfrm>
          <a:custGeom>
            <a:avLst/>
            <a:gdLst/>
            <a:ahLst/>
            <a:cxnLst/>
            <a:rect r="r" b="b" t="t" l="l"/>
            <a:pathLst>
              <a:path h="4512515" w="3969133">
                <a:moveTo>
                  <a:pt x="0" y="0"/>
                </a:moveTo>
                <a:lnTo>
                  <a:pt x="3969132" y="0"/>
                </a:lnTo>
                <a:lnTo>
                  <a:pt x="3969132" y="4512515"/>
                </a:lnTo>
                <a:lnTo>
                  <a:pt x="0" y="4512515"/>
                </a:lnTo>
                <a:lnTo>
                  <a:pt x="0" y="0"/>
                </a:lnTo>
                <a:close/>
              </a:path>
            </a:pathLst>
          </a:custGeom>
          <a:blipFill>
            <a:blip r:embed="rId4"/>
            <a:stretch>
              <a:fillRect l="0" t="0" r="0" b="0"/>
            </a:stretch>
          </a:blipFill>
        </p:spPr>
      </p:sp>
      <p:sp>
        <p:nvSpPr>
          <p:cNvPr name="Freeform 4" id="4"/>
          <p:cNvSpPr/>
          <p:nvPr/>
        </p:nvSpPr>
        <p:spPr>
          <a:xfrm flipH="false" flipV="false" rot="0">
            <a:off x="-611425" y="6598087"/>
            <a:ext cx="3280251" cy="4108874"/>
          </a:xfrm>
          <a:custGeom>
            <a:avLst/>
            <a:gdLst/>
            <a:ahLst/>
            <a:cxnLst/>
            <a:rect r="r" b="b" t="t" l="l"/>
            <a:pathLst>
              <a:path h="4108874" w="3280251">
                <a:moveTo>
                  <a:pt x="0" y="0"/>
                </a:moveTo>
                <a:lnTo>
                  <a:pt x="3280250" y="0"/>
                </a:lnTo>
                <a:lnTo>
                  <a:pt x="3280250" y="4108874"/>
                </a:lnTo>
                <a:lnTo>
                  <a:pt x="0" y="4108874"/>
                </a:lnTo>
                <a:lnTo>
                  <a:pt x="0" y="0"/>
                </a:lnTo>
                <a:close/>
              </a:path>
            </a:pathLst>
          </a:custGeom>
          <a:blipFill>
            <a:blip r:embed="rId5"/>
            <a:stretch>
              <a:fillRect l="0" t="0" r="0" b="0"/>
            </a:stretch>
          </a:blipFill>
        </p:spPr>
      </p:sp>
      <p:sp>
        <p:nvSpPr>
          <p:cNvPr name="Freeform 5" id="5"/>
          <p:cNvSpPr/>
          <p:nvPr/>
        </p:nvSpPr>
        <p:spPr>
          <a:xfrm flipH="false" flipV="false" rot="3921125">
            <a:off x="12766498" y="-1741514"/>
            <a:ext cx="5550511" cy="5550511"/>
          </a:xfrm>
          <a:custGeom>
            <a:avLst/>
            <a:gdLst/>
            <a:ahLst/>
            <a:cxnLst/>
            <a:rect r="r" b="b" t="t" l="l"/>
            <a:pathLst>
              <a:path h="5550511" w="5550511">
                <a:moveTo>
                  <a:pt x="0" y="0"/>
                </a:moveTo>
                <a:lnTo>
                  <a:pt x="5550511" y="0"/>
                </a:lnTo>
                <a:lnTo>
                  <a:pt x="5550511" y="5550511"/>
                </a:lnTo>
                <a:lnTo>
                  <a:pt x="0" y="55505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0" y="-710214"/>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2571653">
            <a:off x="-3050082" y="2465162"/>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0166210" y="7892064"/>
            <a:ext cx="4647276" cy="3099786"/>
          </a:xfrm>
          <a:custGeom>
            <a:avLst/>
            <a:gdLst/>
            <a:ahLst/>
            <a:cxnLst/>
            <a:rect r="r" b="b" t="t" l="l"/>
            <a:pathLst>
              <a:path h="3099786" w="4647276">
                <a:moveTo>
                  <a:pt x="0" y="0"/>
                </a:moveTo>
                <a:lnTo>
                  <a:pt x="4647276" y="0"/>
                </a:lnTo>
                <a:lnTo>
                  <a:pt x="4647276" y="3099786"/>
                </a:lnTo>
                <a:lnTo>
                  <a:pt x="0" y="3099786"/>
                </a:lnTo>
                <a:lnTo>
                  <a:pt x="0"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true" flipV="false" rot="0">
            <a:off x="3281798" y="7892064"/>
            <a:ext cx="4647276" cy="3099786"/>
          </a:xfrm>
          <a:custGeom>
            <a:avLst/>
            <a:gdLst/>
            <a:ahLst/>
            <a:cxnLst/>
            <a:rect r="r" b="b" t="t" l="l"/>
            <a:pathLst>
              <a:path h="3099786" w="4647276">
                <a:moveTo>
                  <a:pt x="4647276" y="0"/>
                </a:moveTo>
                <a:lnTo>
                  <a:pt x="0" y="0"/>
                </a:lnTo>
                <a:lnTo>
                  <a:pt x="0" y="3099786"/>
                </a:lnTo>
                <a:lnTo>
                  <a:pt x="4647276" y="3099786"/>
                </a:lnTo>
                <a:lnTo>
                  <a:pt x="4647276"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4541977" y="2311624"/>
            <a:ext cx="9315809" cy="6206658"/>
          </a:xfrm>
          <a:custGeom>
            <a:avLst/>
            <a:gdLst/>
            <a:ahLst/>
            <a:cxnLst/>
            <a:rect r="r" b="b" t="t" l="l"/>
            <a:pathLst>
              <a:path h="6206658" w="9315809">
                <a:moveTo>
                  <a:pt x="0" y="0"/>
                </a:moveTo>
                <a:lnTo>
                  <a:pt x="9315809" y="0"/>
                </a:lnTo>
                <a:lnTo>
                  <a:pt x="9315809" y="6206658"/>
                </a:lnTo>
                <a:lnTo>
                  <a:pt x="0" y="6206658"/>
                </a:lnTo>
                <a:lnTo>
                  <a:pt x="0" y="0"/>
                </a:lnTo>
                <a:close/>
              </a:path>
            </a:pathLst>
          </a:custGeom>
          <a:blipFill>
            <a:blip r:embed="rId12"/>
            <a:stretch>
              <a:fillRect l="0" t="0" r="0" b="0"/>
            </a:stretch>
          </a:blipFill>
        </p:spPr>
      </p:sp>
      <p:sp>
        <p:nvSpPr>
          <p:cNvPr name="TextBox 11" id="11"/>
          <p:cNvSpPr txBox="true"/>
          <p:nvPr/>
        </p:nvSpPr>
        <p:spPr>
          <a:xfrm rot="0">
            <a:off x="5054945" y="755272"/>
            <a:ext cx="7717633" cy="904849"/>
          </a:xfrm>
          <a:prstGeom prst="rect">
            <a:avLst/>
          </a:prstGeom>
        </p:spPr>
        <p:txBody>
          <a:bodyPr anchor="t" rtlCol="false" tIns="0" lIns="0" bIns="0" rIns="0">
            <a:spAutoFit/>
          </a:bodyPr>
          <a:lstStyle/>
          <a:p>
            <a:pPr algn="ctr">
              <a:lnSpc>
                <a:spcPts val="6641"/>
              </a:lnSpc>
            </a:pPr>
            <a:r>
              <a:rPr lang="en-US" sz="6846">
                <a:solidFill>
                  <a:srgbClr val="214184"/>
                </a:solidFill>
                <a:latin typeface="Stinger Wide"/>
                <a:ea typeface="Stinger Wide"/>
                <a:cs typeface="Stinger Wide"/>
                <a:sym typeface="Stinger Wide"/>
              </a:rPr>
              <a:t>Counter Valhein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2571653">
            <a:off x="16043607" y="1949665"/>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721875" y="6598087"/>
            <a:ext cx="3969133" cy="4512515"/>
          </a:xfrm>
          <a:custGeom>
            <a:avLst/>
            <a:gdLst/>
            <a:ahLst/>
            <a:cxnLst/>
            <a:rect r="r" b="b" t="t" l="l"/>
            <a:pathLst>
              <a:path h="4512515" w="3969133">
                <a:moveTo>
                  <a:pt x="0" y="0"/>
                </a:moveTo>
                <a:lnTo>
                  <a:pt x="3969132" y="0"/>
                </a:lnTo>
                <a:lnTo>
                  <a:pt x="3969132" y="4512515"/>
                </a:lnTo>
                <a:lnTo>
                  <a:pt x="0" y="4512515"/>
                </a:lnTo>
                <a:lnTo>
                  <a:pt x="0" y="0"/>
                </a:lnTo>
                <a:close/>
              </a:path>
            </a:pathLst>
          </a:custGeom>
          <a:blipFill>
            <a:blip r:embed="rId4"/>
            <a:stretch>
              <a:fillRect l="0" t="0" r="0" b="0"/>
            </a:stretch>
          </a:blipFill>
        </p:spPr>
      </p:sp>
      <p:sp>
        <p:nvSpPr>
          <p:cNvPr name="Freeform 4" id="4"/>
          <p:cNvSpPr/>
          <p:nvPr/>
        </p:nvSpPr>
        <p:spPr>
          <a:xfrm flipH="false" flipV="false" rot="0">
            <a:off x="-611425" y="6598087"/>
            <a:ext cx="3280251" cy="4108874"/>
          </a:xfrm>
          <a:custGeom>
            <a:avLst/>
            <a:gdLst/>
            <a:ahLst/>
            <a:cxnLst/>
            <a:rect r="r" b="b" t="t" l="l"/>
            <a:pathLst>
              <a:path h="4108874" w="3280251">
                <a:moveTo>
                  <a:pt x="0" y="0"/>
                </a:moveTo>
                <a:lnTo>
                  <a:pt x="3280250" y="0"/>
                </a:lnTo>
                <a:lnTo>
                  <a:pt x="3280250" y="4108874"/>
                </a:lnTo>
                <a:lnTo>
                  <a:pt x="0" y="4108874"/>
                </a:lnTo>
                <a:lnTo>
                  <a:pt x="0" y="0"/>
                </a:lnTo>
                <a:close/>
              </a:path>
            </a:pathLst>
          </a:custGeom>
          <a:blipFill>
            <a:blip r:embed="rId5"/>
            <a:stretch>
              <a:fillRect l="0" t="0" r="0" b="0"/>
            </a:stretch>
          </a:blipFill>
        </p:spPr>
      </p:sp>
      <p:sp>
        <p:nvSpPr>
          <p:cNvPr name="Freeform 5" id="5"/>
          <p:cNvSpPr/>
          <p:nvPr/>
        </p:nvSpPr>
        <p:spPr>
          <a:xfrm flipH="false" flipV="false" rot="3921125">
            <a:off x="12766498" y="-1741514"/>
            <a:ext cx="5550511" cy="5550511"/>
          </a:xfrm>
          <a:custGeom>
            <a:avLst/>
            <a:gdLst/>
            <a:ahLst/>
            <a:cxnLst/>
            <a:rect r="r" b="b" t="t" l="l"/>
            <a:pathLst>
              <a:path h="5550511" w="5550511">
                <a:moveTo>
                  <a:pt x="0" y="0"/>
                </a:moveTo>
                <a:lnTo>
                  <a:pt x="5550511" y="0"/>
                </a:lnTo>
                <a:lnTo>
                  <a:pt x="5550511" y="5550511"/>
                </a:lnTo>
                <a:lnTo>
                  <a:pt x="0" y="55505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0" y="-710214"/>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2571653">
            <a:off x="-3050082" y="2465162"/>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2">
              <a:alphaModFix amt="21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0166210" y="7892064"/>
            <a:ext cx="4647276" cy="3099786"/>
          </a:xfrm>
          <a:custGeom>
            <a:avLst/>
            <a:gdLst/>
            <a:ahLst/>
            <a:cxnLst/>
            <a:rect r="r" b="b" t="t" l="l"/>
            <a:pathLst>
              <a:path h="3099786" w="4647276">
                <a:moveTo>
                  <a:pt x="0" y="0"/>
                </a:moveTo>
                <a:lnTo>
                  <a:pt x="4647276" y="0"/>
                </a:lnTo>
                <a:lnTo>
                  <a:pt x="4647276" y="3099786"/>
                </a:lnTo>
                <a:lnTo>
                  <a:pt x="0" y="3099786"/>
                </a:lnTo>
                <a:lnTo>
                  <a:pt x="0"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true" flipV="false" rot="0">
            <a:off x="3281798" y="7892064"/>
            <a:ext cx="4647276" cy="3099786"/>
          </a:xfrm>
          <a:custGeom>
            <a:avLst/>
            <a:gdLst/>
            <a:ahLst/>
            <a:cxnLst/>
            <a:rect r="r" b="b" t="t" l="l"/>
            <a:pathLst>
              <a:path h="3099786" w="4647276">
                <a:moveTo>
                  <a:pt x="4647276" y="0"/>
                </a:moveTo>
                <a:lnTo>
                  <a:pt x="0" y="0"/>
                </a:lnTo>
                <a:lnTo>
                  <a:pt x="0" y="3099786"/>
                </a:lnTo>
                <a:lnTo>
                  <a:pt x="4647276" y="3099786"/>
                </a:lnTo>
                <a:lnTo>
                  <a:pt x="4647276" y="0"/>
                </a:lnTo>
                <a:close/>
              </a:path>
            </a:pathLst>
          </a:custGeom>
          <a:blipFill>
            <a:blip r:embed="rId10">
              <a:alphaModFix amt="4300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5054945" y="755272"/>
            <a:ext cx="7717633" cy="904849"/>
          </a:xfrm>
          <a:prstGeom prst="rect">
            <a:avLst/>
          </a:prstGeom>
        </p:spPr>
        <p:txBody>
          <a:bodyPr anchor="t" rtlCol="false" tIns="0" lIns="0" bIns="0" rIns="0">
            <a:spAutoFit/>
          </a:bodyPr>
          <a:lstStyle/>
          <a:p>
            <a:pPr algn="ctr">
              <a:lnSpc>
                <a:spcPts val="6641"/>
              </a:lnSpc>
            </a:pPr>
            <a:r>
              <a:rPr lang="en-US" sz="6846">
                <a:solidFill>
                  <a:srgbClr val="214184"/>
                </a:solidFill>
                <a:latin typeface="Stinger Wide"/>
                <a:ea typeface="Stinger Wide"/>
                <a:cs typeface="Stinger Wide"/>
                <a:sym typeface="Stinger Wide"/>
              </a:rPr>
              <a:t>Đóng góp</a:t>
            </a:r>
          </a:p>
        </p:txBody>
      </p:sp>
      <p:sp>
        <p:nvSpPr>
          <p:cNvPr name="TextBox 11" id="11"/>
          <p:cNvSpPr txBox="true"/>
          <p:nvPr/>
        </p:nvSpPr>
        <p:spPr>
          <a:xfrm rot="0">
            <a:off x="6420923" y="4581874"/>
            <a:ext cx="4985677" cy="976630"/>
          </a:xfrm>
          <a:prstGeom prst="rect">
            <a:avLst/>
          </a:prstGeom>
        </p:spPr>
        <p:txBody>
          <a:bodyPr anchor="t" rtlCol="false" tIns="0" lIns="0" bIns="0" rIns="0">
            <a:spAutoFit/>
          </a:bodyPr>
          <a:lstStyle/>
          <a:p>
            <a:pPr algn="l" marL="604519" indent="-302260" lvl="1">
              <a:lnSpc>
                <a:spcPts val="3919"/>
              </a:lnSpc>
              <a:buFont typeface="Arial"/>
              <a:buChar char="•"/>
            </a:pPr>
            <a:r>
              <a:rPr lang="en-US" sz="2799" spc="30">
                <a:solidFill>
                  <a:srgbClr val="000000"/>
                </a:solidFill>
                <a:latin typeface="Garet"/>
                <a:ea typeface="Garet"/>
                <a:cs typeface="Garet"/>
                <a:sym typeface="Garet"/>
              </a:rPr>
              <a:t>Nguyễn Minh Đức : 75%</a:t>
            </a:r>
          </a:p>
          <a:p>
            <a:pPr algn="l" marL="604519" indent="-302260" lvl="1">
              <a:lnSpc>
                <a:spcPts val="3919"/>
              </a:lnSpc>
              <a:buFont typeface="Arial"/>
              <a:buChar char="•"/>
            </a:pPr>
            <a:r>
              <a:rPr lang="en-US" sz="2799" spc="30">
                <a:solidFill>
                  <a:srgbClr val="000000"/>
                </a:solidFill>
                <a:latin typeface="Garet"/>
                <a:ea typeface="Garet"/>
                <a:cs typeface="Garet"/>
                <a:sym typeface="Garet"/>
              </a:rPr>
              <a:t>Ninh Ngọc Hưng: 25%</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EF6F3"/>
        </a:solidFill>
      </p:bgPr>
    </p:bg>
    <p:spTree>
      <p:nvGrpSpPr>
        <p:cNvPr id="1" name=""/>
        <p:cNvGrpSpPr/>
        <p:nvPr/>
      </p:nvGrpSpPr>
      <p:grpSpPr>
        <a:xfrm>
          <a:off x="0" y="0"/>
          <a:ext cx="0" cy="0"/>
          <a:chOff x="0" y="0"/>
          <a:chExt cx="0" cy="0"/>
        </a:xfrm>
      </p:grpSpPr>
      <p:sp>
        <p:nvSpPr>
          <p:cNvPr name="Freeform 2" id="2"/>
          <p:cNvSpPr/>
          <p:nvPr/>
        </p:nvSpPr>
        <p:spPr>
          <a:xfrm flipH="false" flipV="false" rot="0">
            <a:off x="14339749" y="2482062"/>
            <a:ext cx="7238619" cy="8229600"/>
          </a:xfrm>
          <a:custGeom>
            <a:avLst/>
            <a:gdLst/>
            <a:ahLst/>
            <a:cxnLst/>
            <a:rect r="r" b="b" t="t" l="l"/>
            <a:pathLst>
              <a:path h="8229600" w="7238619">
                <a:moveTo>
                  <a:pt x="0" y="0"/>
                </a:moveTo>
                <a:lnTo>
                  <a:pt x="7238619" y="0"/>
                </a:lnTo>
                <a:lnTo>
                  <a:pt x="7238619"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1102861" y="4112027"/>
            <a:ext cx="5054215" cy="6330958"/>
          </a:xfrm>
          <a:custGeom>
            <a:avLst/>
            <a:gdLst/>
            <a:ahLst/>
            <a:cxnLst/>
            <a:rect r="r" b="b" t="t" l="l"/>
            <a:pathLst>
              <a:path h="6330958" w="5054215">
                <a:moveTo>
                  <a:pt x="0" y="0"/>
                </a:moveTo>
                <a:lnTo>
                  <a:pt x="5054215" y="0"/>
                </a:lnTo>
                <a:lnTo>
                  <a:pt x="5054215" y="6330958"/>
                </a:lnTo>
                <a:lnTo>
                  <a:pt x="0" y="6330958"/>
                </a:lnTo>
                <a:lnTo>
                  <a:pt x="0" y="0"/>
                </a:lnTo>
                <a:close/>
              </a:path>
            </a:pathLst>
          </a:custGeom>
          <a:blipFill>
            <a:blip r:embed="rId3"/>
            <a:stretch>
              <a:fillRect l="0" t="0" r="0" b="0"/>
            </a:stretch>
          </a:blipFill>
        </p:spPr>
      </p:sp>
      <p:sp>
        <p:nvSpPr>
          <p:cNvPr name="TextBox 4" id="4"/>
          <p:cNvSpPr txBox="true"/>
          <p:nvPr/>
        </p:nvSpPr>
        <p:spPr>
          <a:xfrm rot="0">
            <a:off x="3402607" y="3061837"/>
            <a:ext cx="11482787" cy="4553852"/>
          </a:xfrm>
          <a:prstGeom prst="rect">
            <a:avLst/>
          </a:prstGeom>
        </p:spPr>
        <p:txBody>
          <a:bodyPr anchor="t" rtlCol="false" tIns="0" lIns="0" bIns="0" rIns="0">
            <a:spAutoFit/>
          </a:bodyPr>
          <a:lstStyle/>
          <a:p>
            <a:pPr algn="ctr">
              <a:lnSpc>
                <a:spcPts val="17426"/>
              </a:lnSpc>
            </a:pPr>
            <a:r>
              <a:rPr lang="en-US" sz="17965" b="true">
                <a:solidFill>
                  <a:srgbClr val="143F87"/>
                </a:solidFill>
                <a:latin typeface="Stinger Wide Bold"/>
                <a:ea typeface="Stinger Wide Bold"/>
                <a:cs typeface="Stinger Wide Bold"/>
                <a:sym typeface="Stinger Wide Bold"/>
              </a:rPr>
              <a:t>Thank You</a:t>
            </a:r>
          </a:p>
        </p:txBody>
      </p:sp>
      <p:sp>
        <p:nvSpPr>
          <p:cNvPr name="Freeform 5" id="5"/>
          <p:cNvSpPr/>
          <p:nvPr/>
        </p:nvSpPr>
        <p:spPr>
          <a:xfrm flipH="false" flipV="false" rot="3921125">
            <a:off x="-1351009" y="-1529351"/>
            <a:ext cx="5550511" cy="5550511"/>
          </a:xfrm>
          <a:custGeom>
            <a:avLst/>
            <a:gdLst/>
            <a:ahLst/>
            <a:cxnLst/>
            <a:rect r="r" b="b" t="t" l="l"/>
            <a:pathLst>
              <a:path h="5550511" w="5550511">
                <a:moveTo>
                  <a:pt x="0" y="0"/>
                </a:moveTo>
                <a:lnTo>
                  <a:pt x="5550511" y="0"/>
                </a:lnTo>
                <a:lnTo>
                  <a:pt x="5550511" y="5550511"/>
                </a:lnTo>
                <a:lnTo>
                  <a:pt x="0" y="55505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571653">
            <a:off x="6899607" y="-3050983"/>
            <a:ext cx="4488785" cy="5378719"/>
          </a:xfrm>
          <a:custGeom>
            <a:avLst/>
            <a:gdLst/>
            <a:ahLst/>
            <a:cxnLst/>
            <a:rect r="r" b="b" t="t" l="l"/>
            <a:pathLst>
              <a:path h="5378719" w="4488785">
                <a:moveTo>
                  <a:pt x="0" y="0"/>
                </a:moveTo>
                <a:lnTo>
                  <a:pt x="4488786" y="0"/>
                </a:lnTo>
                <a:lnTo>
                  <a:pt x="4488786" y="5378719"/>
                </a:lnTo>
                <a:lnTo>
                  <a:pt x="0" y="53787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7112785" y="8078812"/>
            <a:ext cx="4062430" cy="4114800"/>
          </a:xfrm>
          <a:custGeom>
            <a:avLst/>
            <a:gdLst/>
            <a:ahLst/>
            <a:cxnLst/>
            <a:rect r="r" b="b" t="t" l="l"/>
            <a:pathLst>
              <a:path h="4114800" w="4062430">
                <a:moveTo>
                  <a:pt x="0" y="0"/>
                </a:moveTo>
                <a:lnTo>
                  <a:pt x="4062430" y="0"/>
                </a:lnTo>
                <a:lnTo>
                  <a:pt x="406243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3880430" y="-1632738"/>
            <a:ext cx="4581255" cy="4114800"/>
          </a:xfrm>
          <a:custGeom>
            <a:avLst/>
            <a:gdLst/>
            <a:ahLst/>
            <a:cxnLst/>
            <a:rect r="r" b="b" t="t" l="l"/>
            <a:pathLst>
              <a:path h="4114800" w="4581255">
                <a:moveTo>
                  <a:pt x="0" y="0"/>
                </a:moveTo>
                <a:lnTo>
                  <a:pt x="4581255" y="0"/>
                </a:lnTo>
                <a:lnTo>
                  <a:pt x="4581255"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DAHL85fplos</dc:identifier>
  <dcterms:modified xsi:type="dcterms:W3CDTF">2011-08-01T06:04:30Z</dcterms:modified>
  <cp:revision>1</cp:revision>
  <dc:title>Blue Modern Robotics Automation Engineering Group Project Presentation</dc:title>
</cp:coreProperties>
</file>